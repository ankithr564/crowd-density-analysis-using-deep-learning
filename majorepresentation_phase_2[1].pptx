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70" r:id="rId1"/>
  </p:sldMasterIdLst>
  <p:notesMasterIdLst>
    <p:notesMasterId r:id="rId22"/>
  </p:notesMasterIdLst>
  <p:handoutMasterIdLst>
    <p:handoutMasterId r:id="rId23"/>
  </p:handoutMasterIdLst>
  <p:sldIdLst>
    <p:sldId id="283" r:id="rId2"/>
    <p:sldId id="303" r:id="rId3"/>
    <p:sldId id="305" r:id="rId4"/>
    <p:sldId id="308" r:id="rId5"/>
    <p:sldId id="310" r:id="rId6"/>
    <p:sldId id="318" r:id="rId7"/>
    <p:sldId id="304" r:id="rId8"/>
    <p:sldId id="312" r:id="rId9"/>
    <p:sldId id="317" r:id="rId10"/>
    <p:sldId id="314" r:id="rId11"/>
    <p:sldId id="315" r:id="rId12"/>
    <p:sldId id="320" r:id="rId13"/>
    <p:sldId id="319" r:id="rId14"/>
    <p:sldId id="321" r:id="rId15"/>
    <p:sldId id="322" r:id="rId16"/>
    <p:sldId id="323" r:id="rId17"/>
    <p:sldId id="324" r:id="rId18"/>
    <p:sldId id="313" r:id="rId19"/>
    <p:sldId id="316" r:id="rId20"/>
    <p:sldId id="293" r:id="rId21"/>
  </p:sldIdLst>
  <p:sldSz cx="9906000" cy="6858000" type="A4"/>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pos="175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3238" autoAdjust="0"/>
  </p:normalViewPr>
  <p:slideViewPr>
    <p:cSldViewPr>
      <p:cViewPr varScale="1">
        <p:scale>
          <a:sx n="89" d="100"/>
          <a:sy n="89" d="100"/>
        </p:scale>
        <p:origin x="1090" y="82"/>
      </p:cViewPr>
      <p:guideLst>
        <p:guide orient="horz" pos="2880"/>
        <p:guide pos="2160"/>
        <p:guide pos="1755"/>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AA2F99-BCE8-4268-8F6D-F3DCB13DF7FE}"/>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D942B13-03B0-4791-A485-993444A5943B}"/>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AB751ADB-67B2-4314-895B-C358D85F6EBE}" type="datetimeFigureOut">
              <a:rPr lang="en-IN" smtClean="0"/>
              <a:t>29-10-2025</a:t>
            </a:fld>
            <a:endParaRPr lang="en-IN"/>
          </a:p>
        </p:txBody>
      </p:sp>
      <p:sp>
        <p:nvSpPr>
          <p:cNvPr id="4" name="Footer Placeholder 3">
            <a:extLst>
              <a:ext uri="{FF2B5EF4-FFF2-40B4-BE49-F238E27FC236}">
                <a16:creationId xmlns:a16="http://schemas.microsoft.com/office/drawing/2014/main" id="{FD808C40-5F3D-4768-90E9-B4416606A5C0}"/>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r>
              <a:rPr lang="en-IN"/>
              <a:t>Dept</a:t>
            </a:r>
          </a:p>
        </p:txBody>
      </p:sp>
      <p:sp>
        <p:nvSpPr>
          <p:cNvPr id="5" name="Slide Number Placeholder 4">
            <a:extLst>
              <a:ext uri="{FF2B5EF4-FFF2-40B4-BE49-F238E27FC236}">
                <a16:creationId xmlns:a16="http://schemas.microsoft.com/office/drawing/2014/main" id="{15B10E7F-EACC-4671-8D40-BCF73D0A2A1E}"/>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F133615B-0985-492D-971D-55B0A1B0E1AD}" type="slidenum">
              <a:rPr lang="en-IN" smtClean="0"/>
              <a:t>‹#›</a:t>
            </a:fld>
            <a:endParaRPr lang="en-IN"/>
          </a:p>
        </p:txBody>
      </p:sp>
    </p:spTree>
    <p:extLst>
      <p:ext uri="{BB962C8B-B14F-4D97-AF65-F5344CB8AC3E}">
        <p14:creationId xmlns:p14="http://schemas.microsoft.com/office/powerpoint/2010/main" val="283772977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74FD0BE2-165E-45B7-8741-691925E33557}" type="datetimeFigureOut">
              <a:rPr lang="en-US" smtClean="0"/>
              <a:pPr/>
              <a:t>10/29/2025</a:t>
            </a:fld>
            <a:endParaRPr lang="en-IN" dirty="0"/>
          </a:p>
        </p:txBody>
      </p:sp>
      <p:sp>
        <p:nvSpPr>
          <p:cNvPr id="4" name="Slide Image Placeholder 3"/>
          <p:cNvSpPr>
            <a:spLocks noGrp="1" noRot="1" noChangeAspect="1"/>
          </p:cNvSpPr>
          <p:nvPr>
            <p:ph type="sldImg" idx="2"/>
          </p:nvPr>
        </p:nvSpPr>
        <p:spPr>
          <a:xfrm>
            <a:off x="4238625" y="514350"/>
            <a:ext cx="3714750" cy="257175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r>
              <a:rPr lang="en-IN"/>
              <a:t>Dept</a:t>
            </a:r>
            <a:endParaRPr lang="en-IN" dirty="0"/>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17C8688E-8FAC-478B-B928-BF3DA08AC832}" type="slidenum">
              <a:rPr lang="en-IN" smtClean="0"/>
              <a:pPr/>
              <a:t>‹#›</a:t>
            </a:fld>
            <a:endParaRPr lang="en-IN" dirty="0"/>
          </a:p>
        </p:txBody>
      </p:sp>
    </p:spTree>
    <p:extLst>
      <p:ext uri="{BB962C8B-B14F-4D97-AF65-F5344CB8AC3E}">
        <p14:creationId xmlns:p14="http://schemas.microsoft.com/office/powerpoint/2010/main" val="103771695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88162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04284" y="2514601"/>
            <a:ext cx="715048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104284" y="4777381"/>
            <a:ext cx="715048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32E56F-2029-4C1E-8817-EC6F24913894}"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9" name="Freeform 8"/>
          <p:cNvSpPr/>
          <p:nvPr/>
        </p:nvSpPr>
        <p:spPr bwMode="auto">
          <a:xfrm>
            <a:off x="-34362" y="4321159"/>
            <a:ext cx="1511762"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458612" y="4529542"/>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9988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7302" y="624110"/>
            <a:ext cx="71382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104284" y="2133600"/>
            <a:ext cx="7141317"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4C7DDE-902E-4089-A95C-C3A76C95D9DB}"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8290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04284" y="2074562"/>
            <a:ext cx="7141317"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104284" y="3581400"/>
            <a:ext cx="7141317"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5B667-089C-4EBC-9800-F01B391C4F59}"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1" name="Freeform 11"/>
          <p:cNvSpPr/>
          <p:nvPr/>
        </p:nvSpPr>
        <p:spPr bwMode="auto">
          <a:xfrm flipV="1">
            <a:off x="63" y="3166528"/>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53830" y="3244141"/>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23765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04285" y="2136707"/>
            <a:ext cx="3463992"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82083" y="2136707"/>
            <a:ext cx="3463517"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A49F6A-500E-4154-8609-957358916FE4}"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9"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10" name="Slide Number Placeholder 5"/>
          <p:cNvSpPr>
            <a:spLocks noGrp="1"/>
          </p:cNvSpPr>
          <p:nvPr>
            <p:ph type="sldNum" sz="quarter" idx="12"/>
          </p:nvPr>
        </p:nvSpPr>
        <p:spPr>
          <a:xfrm>
            <a:off x="553830" y="787784"/>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68268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54131" y="2226626"/>
            <a:ext cx="311414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04283" y="2802889"/>
            <a:ext cx="3463993"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7501" y="2223398"/>
            <a:ext cx="311267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78191" y="2799661"/>
            <a:ext cx="346198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36A3D5-1C9E-44EE-9C7E-D0339EACABE3}" type="datetime1">
              <a:rPr lang="en-US" smtClean="0"/>
              <a:t>10/29/2025</a:t>
            </a:fld>
            <a:endParaRPr lang="en-US" dirty="0"/>
          </a:p>
        </p:txBody>
      </p:sp>
      <p:sp>
        <p:nvSpPr>
          <p:cNvPr id="8" name="Footer Placeholder 7"/>
          <p:cNvSpPr>
            <a:spLocks noGrp="1"/>
          </p:cNvSpPr>
          <p:nvPr>
            <p:ph type="ftr" sz="quarter" idx="11"/>
          </p:nvPr>
        </p:nvSpPr>
        <p:spPr/>
        <p:txBody>
          <a:bodyPr/>
          <a:lstStyle/>
          <a:p>
            <a:r>
              <a:rPr lang="en-US"/>
              <a:t>Dept. of ECE, GAT</a:t>
            </a:r>
            <a:endParaRPr lang="en-US" dirty="0"/>
          </a:p>
        </p:txBody>
      </p:sp>
      <p:sp>
        <p:nvSpPr>
          <p:cNvPr id="11"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12" name="Slide Number Placeholder 5"/>
          <p:cNvSpPr>
            <a:spLocks noGrp="1"/>
          </p:cNvSpPr>
          <p:nvPr>
            <p:ph type="sldNum" sz="quarter" idx="12"/>
          </p:nvPr>
        </p:nvSpPr>
        <p:spPr>
          <a:xfrm>
            <a:off x="553830" y="787784"/>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00479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07300" y="624110"/>
            <a:ext cx="71383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462592-25F2-4947-A557-5A40AA3C6422}" type="datetime1">
              <a:rPr lang="en-US" smtClean="0"/>
              <a:t>10/29/2025</a:t>
            </a:fld>
            <a:endParaRPr lang="en-US" dirty="0"/>
          </a:p>
        </p:txBody>
      </p:sp>
      <p:sp>
        <p:nvSpPr>
          <p:cNvPr id="4" name="Footer Placeholder 3"/>
          <p:cNvSpPr>
            <a:spLocks noGrp="1"/>
          </p:cNvSpPr>
          <p:nvPr>
            <p:ph type="ftr" sz="quarter" idx="11"/>
          </p:nvPr>
        </p:nvSpPr>
        <p:spPr/>
        <p:txBody>
          <a:bodyPr/>
          <a:lstStyle/>
          <a:p>
            <a:r>
              <a:rPr lang="en-US"/>
              <a:t>Dept. of ECE, GAT</a:t>
            </a:r>
            <a:endParaRPr lang="en-US" dirty="0"/>
          </a:p>
        </p:txBody>
      </p:sp>
      <p:sp>
        <p:nvSpPr>
          <p:cNvPr id="8"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4032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528833-6BFB-47D7-BABF-8FD833C2A098}" type="datetime1">
              <a:rPr lang="en-US" smtClean="0"/>
              <a:t>10/29/2025</a:t>
            </a:fld>
            <a:endParaRPr lang="en-US" dirty="0"/>
          </a:p>
        </p:txBody>
      </p:sp>
      <p:sp>
        <p:nvSpPr>
          <p:cNvPr id="3" name="Footer Placeholder 2"/>
          <p:cNvSpPr>
            <a:spLocks noGrp="1"/>
          </p:cNvSpPr>
          <p:nvPr>
            <p:ph type="ftr" sz="quarter" idx="11"/>
          </p:nvPr>
        </p:nvSpPr>
        <p:spPr/>
        <p:txBody>
          <a:bodyPr/>
          <a:lstStyle/>
          <a:p>
            <a:r>
              <a:rPr lang="en-US"/>
              <a:t>Dept. of ECE, GAT</a:t>
            </a:r>
            <a:endParaRPr lang="en-US" dirty="0"/>
          </a:p>
        </p:txBody>
      </p:sp>
      <p:sp>
        <p:nvSpPr>
          <p:cNvPr id="6"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4658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4283" y="446088"/>
            <a:ext cx="2848716"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138785" y="446090"/>
            <a:ext cx="4106815"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04283" y="1598613"/>
            <a:ext cx="2848716"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B388DE-05BD-4143-A692-BCFE76C0E20A}"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662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4284" y="4800600"/>
            <a:ext cx="714131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104284" y="634965"/>
            <a:ext cx="7141317"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104284" y="5367338"/>
            <a:ext cx="7141317"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81DC6E-CE2C-4B55-B464-F835C64FDDA6}"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4910661"/>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53830" y="4983089"/>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08146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104284" y="609600"/>
            <a:ext cx="7141317"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104284" y="4354046"/>
            <a:ext cx="7141317"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8B1740-12B4-4B25-A273-4CE82BE409BE}"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3166528"/>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53830" y="3244141"/>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96413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70467" y="609600"/>
            <a:ext cx="6618719"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617303" y="3505200"/>
            <a:ext cx="612504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104284" y="4354046"/>
            <a:ext cx="7141317"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C9517E-186A-413D-8F89-3FC84102DC55}"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9" name="Freeform 11"/>
          <p:cNvSpPr/>
          <p:nvPr/>
        </p:nvSpPr>
        <p:spPr bwMode="auto">
          <a:xfrm flipV="1">
            <a:off x="63" y="3166528"/>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53830" y="3244141"/>
            <a:ext cx="633726" cy="365125"/>
          </a:xfrm>
        </p:spPr>
        <p:txBody>
          <a:bodyPr/>
          <a:lstStyle/>
          <a:p>
            <a:fld id="{B6F15528-21DE-4FAA-801E-634DDDAF4B2B}" type="slidenum">
              <a:rPr lang="en-US" smtClean="0"/>
              <a:pPr/>
              <a:t>‹#›</a:t>
            </a:fld>
            <a:endParaRPr lang="en-US" dirty="0"/>
          </a:p>
        </p:txBody>
      </p:sp>
      <p:sp>
        <p:nvSpPr>
          <p:cNvPr id="14" name="TextBox 13"/>
          <p:cNvSpPr txBox="1"/>
          <p:nvPr/>
        </p:nvSpPr>
        <p:spPr>
          <a:xfrm>
            <a:off x="1959010" y="648005"/>
            <a:ext cx="49542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850328" y="2905306"/>
            <a:ext cx="49542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9163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104284" y="2438402"/>
            <a:ext cx="7141317"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104284" y="5181600"/>
            <a:ext cx="7141317"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218FF7F-CBF3-4961-B657-5D61F4078D27}"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11" name="Freeform 11"/>
          <p:cNvSpPr/>
          <p:nvPr/>
        </p:nvSpPr>
        <p:spPr bwMode="auto">
          <a:xfrm flipV="1">
            <a:off x="63" y="4910661"/>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53830" y="4983089"/>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17806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370467" y="609600"/>
            <a:ext cx="6618719"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104283" y="4343400"/>
            <a:ext cx="724565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104283" y="5181600"/>
            <a:ext cx="72456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3A67144-783A-4288-9B3C-5B0F00671E7F}"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20" name="Freeform 11"/>
          <p:cNvSpPr/>
          <p:nvPr/>
        </p:nvSpPr>
        <p:spPr bwMode="auto">
          <a:xfrm flipV="1">
            <a:off x="63" y="4910661"/>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53830" y="4983089"/>
            <a:ext cx="633726" cy="365125"/>
          </a:xfrm>
        </p:spPr>
        <p:txBody>
          <a:bodyPr/>
          <a:lstStyle/>
          <a:p>
            <a:fld id="{B6F15528-21DE-4FAA-801E-634DDDAF4B2B}" type="slidenum">
              <a:rPr lang="en-US" smtClean="0"/>
              <a:pPr/>
              <a:t>‹#›</a:t>
            </a:fld>
            <a:endParaRPr lang="en-US" dirty="0"/>
          </a:p>
        </p:txBody>
      </p:sp>
      <p:sp>
        <p:nvSpPr>
          <p:cNvPr id="11" name="TextBox 10"/>
          <p:cNvSpPr txBox="1"/>
          <p:nvPr/>
        </p:nvSpPr>
        <p:spPr>
          <a:xfrm>
            <a:off x="1959010" y="648005"/>
            <a:ext cx="49542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850328" y="2905306"/>
            <a:ext cx="49542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5480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104284" y="627407"/>
            <a:ext cx="7141316"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104284" y="4343400"/>
            <a:ext cx="7141317"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104284" y="5181600"/>
            <a:ext cx="7141317"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D79D963-87C9-4BC3-9239-1DD2DAC96FA6}"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4910661"/>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53830" y="4983089"/>
            <a:ext cx="633726" cy="365125"/>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13129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DF1024-2253-4473-8062-D587172D2823}"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698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1746" y="627407"/>
            <a:ext cx="1794143"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104284" y="627407"/>
            <a:ext cx="5109377"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DF1192-073E-4D2E-A908-55232903D37E}"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Dept. of ECE, GAT</a:t>
            </a:r>
            <a:endParaRPr lang="en-US" dirty="0"/>
          </a:p>
        </p:txBody>
      </p:sp>
      <p:sp>
        <p:nvSpPr>
          <p:cNvPr id="10" name="Freeform 11"/>
          <p:cNvSpPr/>
          <p:nvPr/>
        </p:nvSpPr>
        <p:spPr bwMode="auto">
          <a:xfrm flipV="1">
            <a:off x="63" y="711194"/>
            <a:ext cx="1471552"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13964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1463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49" name="Group 48"/>
          <p:cNvGrpSpPr/>
          <p:nvPr/>
        </p:nvGrpSpPr>
        <p:grpSpPr>
          <a:xfrm>
            <a:off x="22123" y="285"/>
            <a:ext cx="2114961"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62" name="Rectangle 61"/>
          <p:cNvSpPr/>
          <p:nvPr/>
        </p:nvSpPr>
        <p:spPr>
          <a:xfrm>
            <a:off x="0" y="0"/>
            <a:ext cx="19812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107300" y="624110"/>
            <a:ext cx="71383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04284" y="2133600"/>
            <a:ext cx="7141317"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20100" y="6135090"/>
            <a:ext cx="830245"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41786D7-C52E-471A-A7A0-B3AE1CB1B69C}" type="datetime1">
              <a:rPr lang="en-US" smtClean="0"/>
              <a:t>10/29/2025</a:t>
            </a:fld>
            <a:endParaRPr lang="en-US" dirty="0"/>
          </a:p>
        </p:txBody>
      </p:sp>
      <p:sp>
        <p:nvSpPr>
          <p:cNvPr id="5" name="Footer Placeholder 4"/>
          <p:cNvSpPr>
            <a:spLocks noGrp="1"/>
          </p:cNvSpPr>
          <p:nvPr>
            <p:ph type="ftr" sz="quarter" idx="3"/>
          </p:nvPr>
        </p:nvSpPr>
        <p:spPr>
          <a:xfrm>
            <a:off x="2104283" y="6135810"/>
            <a:ext cx="619286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Dept. of ECE, GAT</a:t>
            </a:r>
            <a:endParaRPr lang="en-US" dirty="0"/>
          </a:p>
        </p:txBody>
      </p:sp>
      <p:sp>
        <p:nvSpPr>
          <p:cNvPr id="6" name="Slide Number Placeholder 5"/>
          <p:cNvSpPr>
            <a:spLocks noGrp="1"/>
          </p:cNvSpPr>
          <p:nvPr>
            <p:ph type="sldNum" sz="quarter" idx="4"/>
          </p:nvPr>
        </p:nvSpPr>
        <p:spPr bwMode="gray">
          <a:xfrm>
            <a:off x="553830" y="787784"/>
            <a:ext cx="633726"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48904186"/>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36576" y="3634721"/>
            <a:ext cx="4556897" cy="3416320"/>
          </a:xfrm>
          <a:prstGeom prst="rect">
            <a:avLst/>
          </a:prstGeom>
          <a:noFill/>
        </p:spPr>
        <p:txBody>
          <a:bodyPr wrap="square" rtlCol="0">
            <a:spAutoFit/>
          </a:bodyPr>
          <a:lstStyle/>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Presented By: </a:t>
            </a:r>
          </a:p>
          <a:p>
            <a:r>
              <a:rPr lang="en-US" sz="2000" b="1" dirty="0">
                <a:latin typeface="Times New Roman" pitchFamily="18" charset="0"/>
                <a:cs typeface="Times New Roman" pitchFamily="18" charset="0"/>
              </a:rPr>
              <a:t>Student Name (USN)</a:t>
            </a:r>
          </a:p>
          <a:p>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Ankith R		(1GA22EC011)</a:t>
            </a:r>
          </a:p>
          <a:p>
            <a:r>
              <a:rPr lang="en-US" sz="2000" dirty="0">
                <a:latin typeface="Times New Roman" pitchFamily="18" charset="0"/>
                <a:cs typeface="Times New Roman" pitchFamily="18" charset="0"/>
              </a:rPr>
              <a:t>	Bharath C		(1GA22EC021)</a:t>
            </a:r>
          </a:p>
          <a:p>
            <a:r>
              <a:rPr lang="en-US" sz="2000" dirty="0">
                <a:latin typeface="Times New Roman" pitchFamily="18" charset="0"/>
                <a:cs typeface="Times New Roman" pitchFamily="18" charset="0"/>
              </a:rPr>
              <a:t>	Karthik R		(1GA22EC065)</a:t>
            </a:r>
          </a:p>
          <a:p>
            <a:r>
              <a:rPr lang="en-US" sz="2000" dirty="0">
                <a:latin typeface="Times New Roman" pitchFamily="18" charset="0"/>
                <a:cs typeface="Times New Roman" pitchFamily="18" charset="0"/>
              </a:rPr>
              <a:t>	Paramesha VN	(1GA23EC409)</a:t>
            </a:r>
          </a:p>
          <a:p>
            <a:r>
              <a:rPr lang="en-US" sz="2000" b="1" dirty="0">
                <a:latin typeface="Times New Roman" pitchFamily="18" charset="0"/>
                <a:cs typeface="Times New Roman" pitchFamily="18" charset="0"/>
              </a:rPr>
              <a:t>Batch Number:</a:t>
            </a:r>
          </a:p>
          <a:p>
            <a:r>
              <a:rPr lang="en-US" sz="2000" b="1" dirty="0">
                <a:latin typeface="Times New Roman" pitchFamily="18" charset="0"/>
                <a:cs typeface="Times New Roman" pitchFamily="18" charset="0"/>
              </a:rPr>
              <a:t>	A8</a:t>
            </a:r>
          </a:p>
          <a:p>
            <a:endParaRPr lang="en-US" b="1" dirty="0">
              <a:latin typeface="Times New Roman" pitchFamily="18" charset="0"/>
              <a:cs typeface="Times New Roman" pitchFamily="18" charset="0"/>
            </a:endParaRPr>
          </a:p>
          <a:p>
            <a:endParaRPr lang="en-US" b="1" dirty="0">
              <a:latin typeface="Aparajita" pitchFamily="34" charset="0"/>
              <a:cs typeface="Aparajita" pitchFamily="34" charset="0"/>
            </a:endParaRPr>
          </a:p>
        </p:txBody>
      </p:sp>
      <p:sp>
        <p:nvSpPr>
          <p:cNvPr id="6" name="TextBox 5"/>
          <p:cNvSpPr txBox="1"/>
          <p:nvPr/>
        </p:nvSpPr>
        <p:spPr>
          <a:xfrm>
            <a:off x="5731042" y="4006145"/>
            <a:ext cx="4375150" cy="1384995"/>
          </a:xfrm>
          <a:prstGeom prst="rect">
            <a:avLst/>
          </a:prstGeom>
          <a:noFill/>
        </p:spPr>
        <p:txBody>
          <a:bodyPr wrap="square" rtlCol="0">
            <a:spAutoFit/>
          </a:bodyPr>
          <a:lstStyle/>
          <a:p>
            <a:r>
              <a:rPr lang="en-US" sz="2000" b="1" dirty="0">
                <a:latin typeface="Times New Roman" pitchFamily="18" charset="0"/>
                <a:cs typeface="Times New Roman" pitchFamily="18" charset="0"/>
              </a:rPr>
              <a:t>Under The Guidance of:</a:t>
            </a:r>
          </a:p>
          <a:p>
            <a:r>
              <a:rPr lang="en-US" sz="2400" b="1" dirty="0">
                <a:latin typeface="Times New Roman" pitchFamily="18" charset="0"/>
                <a:cs typeface="Times New Roman" pitchFamily="18" charset="0"/>
              </a:rPr>
              <a:t>	</a:t>
            </a:r>
            <a:r>
              <a:rPr lang="en-US" sz="2000" dirty="0">
                <a:latin typeface="Times New Roman" pitchFamily="18" charset="0"/>
                <a:cs typeface="Times New Roman" pitchFamily="18" charset="0"/>
              </a:rPr>
              <a:t>Tilak Kumar L</a:t>
            </a:r>
          </a:p>
          <a:p>
            <a:r>
              <a:rPr lang="en-US" sz="2000" dirty="0">
                <a:latin typeface="Times New Roman" pitchFamily="18" charset="0"/>
                <a:cs typeface="Times New Roman" pitchFamily="18" charset="0"/>
              </a:rPr>
              <a:t>	Assistant Professor</a:t>
            </a:r>
          </a:p>
          <a:p>
            <a:r>
              <a:rPr lang="en-US" sz="2000" dirty="0">
                <a:latin typeface="Times New Roman" pitchFamily="18" charset="0"/>
                <a:cs typeface="Times New Roman" pitchFamily="18" charset="0"/>
              </a:rPr>
              <a:t>	Dept. of ECE, GAT</a:t>
            </a:r>
          </a:p>
        </p:txBody>
      </p:sp>
      <p:sp>
        <p:nvSpPr>
          <p:cNvPr id="7" name="Title 6"/>
          <p:cNvSpPr>
            <a:spLocks noGrp="1"/>
          </p:cNvSpPr>
          <p:nvPr>
            <p:ph type="ctrTitle"/>
          </p:nvPr>
        </p:nvSpPr>
        <p:spPr>
          <a:xfrm>
            <a:off x="2057399" y="0"/>
            <a:ext cx="6744891" cy="1600200"/>
          </a:xfrm>
        </p:spPr>
        <p:txBody>
          <a:bodyPr>
            <a:noAutofit/>
          </a:bodyPr>
          <a:lstStyle/>
          <a:p>
            <a:pPr algn="ctr"/>
            <a:r>
              <a:rPr lang="en-US" sz="2800" b="1" dirty="0">
                <a:solidFill>
                  <a:srgbClr val="0070C0"/>
                </a:solidFill>
                <a:latin typeface="Times New Roman" pitchFamily="18" charset="0"/>
                <a:cs typeface="Times New Roman" pitchFamily="18" charset="0"/>
              </a:rPr>
              <a:t>Global Academy of Technology</a:t>
            </a:r>
            <a:br>
              <a:rPr lang="en-US" sz="4000" b="1" dirty="0">
                <a:solidFill>
                  <a:srgbClr val="0070C0"/>
                </a:solidFill>
              </a:rPr>
            </a:br>
            <a:r>
              <a:rPr lang="en-US" sz="2800" dirty="0">
                <a:solidFill>
                  <a:srgbClr val="0070C0"/>
                </a:solidFill>
                <a:latin typeface="Times New Roman" pitchFamily="18" charset="0"/>
                <a:cs typeface="Times New Roman" pitchFamily="18" charset="0"/>
              </a:rPr>
              <a:t>Rajarajeshwari Nagar,Bengaluru-560098</a:t>
            </a:r>
          </a:p>
        </p:txBody>
      </p:sp>
      <p:pic>
        <p:nvPicPr>
          <p:cNvPr id="9" name="Picture 8" descr="logo.png"/>
          <p:cNvPicPr>
            <a:picLocks noChangeAspect="1"/>
          </p:cNvPicPr>
          <p:nvPr/>
        </p:nvPicPr>
        <p:blipFill>
          <a:blip r:embed="rId3" cstate="print"/>
          <a:stretch>
            <a:fillRect/>
          </a:stretch>
        </p:blipFill>
        <p:spPr>
          <a:xfrm>
            <a:off x="115489" y="271249"/>
            <a:ext cx="1295400" cy="1066800"/>
          </a:xfrm>
          <a:prstGeom prst="rect">
            <a:avLst/>
          </a:prstGeom>
        </p:spPr>
      </p:pic>
      <p:sp>
        <p:nvSpPr>
          <p:cNvPr id="10" name="Title 6"/>
          <p:cNvSpPr txBox="1">
            <a:spLocks/>
          </p:cNvSpPr>
          <p:nvPr/>
        </p:nvSpPr>
        <p:spPr>
          <a:xfrm>
            <a:off x="741091" y="1669007"/>
            <a:ext cx="8915400" cy="2031325"/>
          </a:xfrm>
          <a:prstGeom prst="rect">
            <a:avLst/>
          </a:prstGeom>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1" kern="0" dirty="0">
                <a:solidFill>
                  <a:srgbClr val="00B050"/>
                </a:solidFill>
                <a:latin typeface="Times New Roman"/>
                <a:ea typeface="+mj-ea"/>
                <a:cs typeface="Times New Roman"/>
              </a:rPr>
              <a:t>Department of Electronics and Communication Engineering</a:t>
            </a:r>
            <a:endParaRPr kumimoji="0" lang="en-US" sz="2400" b="1" i="0" u="none" strike="noStrike" kern="0" cap="none" spc="0" normalizeH="0" noProof="0" dirty="0">
              <a:ln>
                <a:noFill/>
              </a:ln>
              <a:solidFill>
                <a:srgbClr val="00B050"/>
              </a:solidFill>
              <a:effectLst/>
              <a:uLnTx/>
              <a:uFillTx/>
              <a:latin typeface="Times New Roman"/>
              <a:ea typeface="+mj-ea"/>
              <a:cs typeface="Times New Roman"/>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noProof="0" dirty="0">
                <a:ln>
                  <a:noFill/>
                </a:ln>
                <a:effectLst/>
                <a:uLnTx/>
                <a:uFillTx/>
                <a:latin typeface="Times New Roman"/>
                <a:ea typeface="+mj-ea"/>
                <a:cs typeface="Times New Roman"/>
              </a:rPr>
              <a:t> </a:t>
            </a:r>
            <a:r>
              <a:rPr lang="en-US" sz="2400" b="1" kern="0" dirty="0">
                <a:solidFill>
                  <a:srgbClr val="FF0000"/>
                </a:solidFill>
                <a:latin typeface="Times New Roman"/>
                <a:ea typeface="+mj-ea"/>
                <a:cs typeface="Times New Roman"/>
              </a:rPr>
              <a:t>Main</a:t>
            </a:r>
            <a:r>
              <a:rPr lang="en-US" sz="2400" b="1" kern="0" dirty="0">
                <a:latin typeface="Times New Roman"/>
                <a:ea typeface="+mj-ea"/>
                <a:cs typeface="Times New Roman"/>
              </a:rPr>
              <a:t> </a:t>
            </a:r>
            <a:r>
              <a:rPr kumimoji="0" lang="en-US" sz="2400" b="1" i="0" u="none" strike="noStrike" kern="0" cap="none" spc="0" normalizeH="0" noProof="0" dirty="0">
                <a:ln>
                  <a:noFill/>
                </a:ln>
                <a:solidFill>
                  <a:srgbClr val="FF0000"/>
                </a:solidFill>
                <a:effectLst/>
                <a:uLnTx/>
                <a:uFillTx/>
                <a:latin typeface="Times New Roman"/>
                <a:ea typeface="+mj-ea"/>
                <a:cs typeface="Times New Roman"/>
              </a:rPr>
              <a:t>Project</a:t>
            </a:r>
            <a:r>
              <a:rPr lang="en-US" sz="2400" b="1" kern="0" dirty="0">
                <a:solidFill>
                  <a:srgbClr val="FF0000"/>
                </a:solidFill>
                <a:latin typeface="Times New Roman"/>
                <a:ea typeface="+mj-ea"/>
                <a:cs typeface="Times New Roman"/>
              </a:rPr>
              <a:t> Phase-II (22ECEP65)</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noProof="0" dirty="0">
                <a:ln>
                  <a:noFill/>
                </a:ln>
                <a:solidFill>
                  <a:srgbClr val="FF0000"/>
                </a:solidFill>
                <a:effectLst/>
                <a:uLnTx/>
                <a:uFillTx/>
                <a:latin typeface="Times New Roman"/>
                <a:ea typeface="+mj-ea"/>
                <a:cs typeface="Times New Roman"/>
              </a:rPr>
              <a:t>Review-2 Presentation</a:t>
            </a:r>
          </a:p>
          <a:p>
            <a:pPr marL="0" marR="0" lvl="0" indent="0" algn="ctr" defTabSz="914400" eaLnBrk="1" fontAlgn="auto" latinLnBrk="0" hangingPunct="1">
              <a:lnSpc>
                <a:spcPct val="100000"/>
              </a:lnSpc>
              <a:spcBef>
                <a:spcPts val="0"/>
              </a:spcBef>
              <a:spcAft>
                <a:spcPts val="0"/>
              </a:spcAft>
              <a:buClrTx/>
              <a:buSzTx/>
              <a:buFontTx/>
              <a:buNone/>
              <a:tabLst/>
              <a:defRPr/>
            </a:pPr>
            <a:r>
              <a:rPr lang="en-US" sz="2400" kern="0" dirty="0">
                <a:latin typeface="Times New Roman"/>
                <a:ea typeface="+mj-ea"/>
                <a:cs typeface="Times New Roman"/>
              </a:rPr>
              <a:t>on</a:t>
            </a:r>
          </a:p>
          <a:p>
            <a:pPr lvl="0" algn="ctr"/>
            <a:r>
              <a:rPr lang="en-US" sz="2800" b="1" kern="0" dirty="0">
                <a:solidFill>
                  <a:srgbClr val="7030A0"/>
                </a:solidFill>
                <a:latin typeface="Times New Roman" pitchFamily="18" charset="0"/>
                <a:ea typeface="+mj-ea"/>
                <a:cs typeface="Times New Roman" pitchFamily="18" charset="0"/>
              </a:rPr>
              <a:t>“</a:t>
            </a:r>
            <a:r>
              <a:rPr lang="en-US" sz="2400" b="1" kern="0" dirty="0">
                <a:solidFill>
                  <a:srgbClr val="7030A0"/>
                </a:solidFill>
                <a:latin typeface="Times New Roman" pitchFamily="18" charset="0"/>
                <a:ea typeface="+mj-ea"/>
                <a:cs typeface="Times New Roman" pitchFamily="18" charset="0"/>
              </a:rPr>
              <a:t>Crowd Density Analysis using deep learning</a:t>
            </a:r>
            <a:r>
              <a:rPr lang="en-US" sz="2800" b="1" kern="0" dirty="0">
                <a:solidFill>
                  <a:srgbClr val="7030A0"/>
                </a:solidFill>
                <a:latin typeface="Times New Roman" pitchFamily="18" charset="0"/>
                <a:ea typeface="+mj-ea"/>
                <a:cs typeface="Times New Roman" pitchFamily="18" charset="0"/>
              </a:rPr>
              <a:t>”</a:t>
            </a:r>
          </a:p>
        </p:txBody>
      </p:sp>
      <p:pic>
        <p:nvPicPr>
          <p:cNvPr id="8" name="Picture 7" descr="E:\84.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47997" y="260108"/>
            <a:ext cx="1067991" cy="1066800"/>
          </a:xfrm>
          <a:prstGeom prst="rect">
            <a:avLst/>
          </a:prstGeom>
          <a:noFill/>
          <a:ln>
            <a:noFill/>
          </a:ln>
        </p:spPr>
      </p:pic>
      <p:sp>
        <p:nvSpPr>
          <p:cNvPr id="11" name="Rectangle 10"/>
          <p:cNvSpPr/>
          <p:nvPr/>
        </p:nvSpPr>
        <p:spPr>
          <a:xfrm>
            <a:off x="5257800" y="5105400"/>
            <a:ext cx="4953000" cy="923330"/>
          </a:xfrm>
          <a:prstGeom prst="rect">
            <a:avLst/>
          </a:prstGeom>
        </p:spPr>
        <p:txBody>
          <a:bodyPr>
            <a:spAutoFit/>
          </a:bodyPr>
          <a:lstStyle/>
          <a:p>
            <a:endParaRPr lang="en-US" b="1" dirty="0">
              <a:latin typeface="Times New Roman" pitchFamily="18" charset="0"/>
              <a:cs typeface="Times New Roman" pitchFamily="18" charset="0"/>
            </a:endParaRPr>
          </a:p>
          <a:p>
            <a:br>
              <a:rPr lang="en-US" dirty="0"/>
            </a:br>
            <a:endParaRPr lang="en-US" dirty="0"/>
          </a:p>
        </p:txBody>
      </p:sp>
      <p:pic>
        <p:nvPicPr>
          <p:cNvPr id="12" name="Picture 11">
            <a:extLst>
              <a:ext uri="{FF2B5EF4-FFF2-40B4-BE49-F238E27FC236}">
                <a16:creationId xmlns:a16="http://schemas.microsoft.com/office/drawing/2014/main" id="{1B446945-A37E-468D-9609-344FC184941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539874" y="342099"/>
            <a:ext cx="517525" cy="800100"/>
          </a:xfrm>
          <a:prstGeom prst="rect">
            <a:avLst/>
          </a:prstGeom>
          <a:noFill/>
          <a:ln>
            <a:noFill/>
          </a:ln>
        </p:spPr>
      </p:pic>
    </p:spTree>
  </p:cSld>
  <p:clrMapOvr>
    <a:masterClrMapping/>
  </p:clrMapOvr>
  <p:transition advTm="15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6615" y="1256068"/>
            <a:ext cx="8610600" cy="4937890"/>
          </a:xfrm>
          <a:prstGeom prst="rect">
            <a:avLst/>
          </a:prstGeom>
        </p:spPr>
        <p:txBody>
          <a:bodyPr vert="horz" wrap="square" lIns="0" tIns="140335" rIns="0" bIns="0" rtlCol="0">
            <a:spAutoFit/>
          </a:bodyPr>
          <a:lstStyle/>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 Introduction</a:t>
            </a:r>
          </a:p>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 Problem Statement</a:t>
            </a:r>
          </a:p>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 Literature Survey</a:t>
            </a:r>
          </a:p>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 Objectives</a:t>
            </a:r>
          </a:p>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Methodology </a:t>
            </a:r>
          </a:p>
          <a:p>
            <a:pPr marL="12700">
              <a:spcBef>
                <a:spcPts val="1105"/>
              </a:spcBef>
              <a:buClr>
                <a:schemeClr val="tx1"/>
              </a:buClr>
              <a:buFont typeface="Wingdings" pitchFamily="2" charset="2"/>
              <a:buChar char="v"/>
            </a:pPr>
            <a:r>
              <a:rPr lang="en-US" sz="2000" spc="-5" dirty="0">
                <a:latin typeface="Times New Roman" pitchFamily="18" charset="0"/>
                <a:cs typeface="Times New Roman" pitchFamily="18" charset="0"/>
              </a:rPr>
              <a:t> Results </a:t>
            </a:r>
          </a:p>
          <a:p>
            <a:pPr marL="12700">
              <a:spcBef>
                <a:spcPts val="1105"/>
              </a:spcBef>
              <a:buClr>
                <a:schemeClr val="tx1"/>
              </a:buClr>
              <a:buFont typeface="Wingdings" pitchFamily="2" charset="2"/>
              <a:buChar char="v"/>
            </a:pPr>
            <a:r>
              <a:rPr lang="en-IN" sz="2000" spc="-5" dirty="0">
                <a:latin typeface="Times New Roman" pitchFamily="18" charset="0"/>
                <a:cs typeface="Times New Roman" pitchFamily="18" charset="0"/>
              </a:rPr>
              <a:t>Advantages and Disadvantages</a:t>
            </a:r>
          </a:p>
          <a:p>
            <a:pPr marL="12700">
              <a:spcBef>
                <a:spcPts val="1105"/>
              </a:spcBef>
              <a:buClr>
                <a:schemeClr val="tx1"/>
              </a:buClr>
              <a:buFont typeface="Wingdings" pitchFamily="2" charset="2"/>
              <a:buChar char="v"/>
            </a:pPr>
            <a:r>
              <a:rPr lang="en-IN" sz="2000" spc="-5" dirty="0">
                <a:latin typeface="Times New Roman" pitchFamily="18" charset="0"/>
                <a:cs typeface="Times New Roman" pitchFamily="18" charset="0"/>
              </a:rPr>
              <a:t>Applications</a:t>
            </a:r>
          </a:p>
          <a:p>
            <a:pPr marL="12700">
              <a:spcBef>
                <a:spcPts val="1105"/>
              </a:spcBef>
              <a:buClr>
                <a:schemeClr val="tx1"/>
              </a:buClr>
              <a:buFont typeface="Wingdings" pitchFamily="2" charset="2"/>
              <a:buChar char="v"/>
            </a:pPr>
            <a:r>
              <a:rPr lang="en-IN" sz="2000" spc="-5" dirty="0">
                <a:latin typeface="Times New Roman" pitchFamily="18" charset="0"/>
                <a:cs typeface="Times New Roman" pitchFamily="18" charset="0"/>
              </a:rPr>
              <a:t>Conclusion</a:t>
            </a:r>
          </a:p>
          <a:p>
            <a:pPr marL="12700">
              <a:spcBef>
                <a:spcPts val="1105"/>
              </a:spcBef>
              <a:buClr>
                <a:schemeClr val="tx1"/>
              </a:buClr>
              <a:buFont typeface="Wingdings" pitchFamily="2" charset="2"/>
              <a:buChar char="v"/>
            </a:pPr>
            <a:r>
              <a:rPr lang="en-IN" sz="2000" spc="-5" dirty="0">
                <a:latin typeface="Times New Roman" pitchFamily="18" charset="0"/>
                <a:cs typeface="Times New Roman" pitchFamily="18" charset="0"/>
              </a:rPr>
              <a:t>Future Work</a:t>
            </a:r>
            <a:endParaRPr lang="en-US" sz="2000" spc="-5" dirty="0">
              <a:latin typeface="Times New Roman" pitchFamily="18" charset="0"/>
              <a:cs typeface="Times New Roman" pitchFamily="18" charset="0"/>
            </a:endParaRPr>
          </a:p>
          <a:p>
            <a:pPr marL="12700">
              <a:spcBef>
                <a:spcPts val="1105"/>
              </a:spcBef>
              <a:buClr>
                <a:schemeClr val="tx1"/>
              </a:buClr>
              <a:buFont typeface="Wingdings" pitchFamily="2" charset="2"/>
              <a:buChar char="v"/>
            </a:pPr>
            <a:r>
              <a:rPr lang="en-IN" sz="2000" spc="-5" dirty="0">
                <a:latin typeface="Times New Roman" pitchFamily="18" charset="0"/>
                <a:cs typeface="Times New Roman" pitchFamily="18" charset="0"/>
              </a:rPr>
              <a:t>References</a:t>
            </a:r>
            <a:endParaRPr lang="en-IN" sz="2400" spc="-5" dirty="0">
              <a:latin typeface="Times New Roman" pitchFamily="18" charset="0"/>
              <a:cs typeface="Times New Roman" pitchFamily="18" charset="0"/>
            </a:endParaRPr>
          </a:p>
        </p:txBody>
      </p:sp>
      <p:sp>
        <p:nvSpPr>
          <p:cNvPr id="4" name="Title 3"/>
          <p:cNvSpPr>
            <a:spLocks noGrp="1"/>
          </p:cNvSpPr>
          <p:nvPr>
            <p:ph type="title"/>
          </p:nvPr>
        </p:nvSpPr>
        <p:spPr>
          <a:xfrm>
            <a:off x="457200" y="555736"/>
            <a:ext cx="8915400" cy="464096"/>
          </a:xfrm>
        </p:spPr>
        <p:txBody>
          <a:bodyPr>
            <a:normAutofit fontScale="90000"/>
          </a:bodyPr>
          <a:lstStyle/>
          <a:p>
            <a:pPr algn="ctr"/>
            <a:r>
              <a:rPr lang="en-US" b="1" dirty="0">
                <a:latin typeface="Times New Roman" pitchFamily="18" charset="0"/>
                <a:cs typeface="Times New Roman" pitchFamily="18" charset="0"/>
              </a:rPr>
              <a:t>CONTENTS</a:t>
            </a:r>
          </a:p>
        </p:txBody>
      </p:sp>
      <p:sp>
        <p:nvSpPr>
          <p:cNvPr id="2" name="Footer Placeholder 1">
            <a:extLst>
              <a:ext uri="{FF2B5EF4-FFF2-40B4-BE49-F238E27FC236}">
                <a16:creationId xmlns:a16="http://schemas.microsoft.com/office/drawing/2014/main" id="{4AD4504D-1093-4C7C-9F9C-4426D9CB5547}"/>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72C8B552-6F8B-4B56-9425-37FB39A05626}"/>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BA8E-16F4-2935-A93A-4409630D6C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C2E8A4-F296-FD56-7931-6BE4DE4CAEAF}"/>
              </a:ext>
            </a:extLst>
          </p:cNvPr>
          <p:cNvSpPr>
            <a:spLocks noGrp="1"/>
          </p:cNvSpPr>
          <p:nvPr>
            <p:ph type="title"/>
          </p:nvPr>
        </p:nvSpPr>
        <p:spPr>
          <a:xfrm>
            <a:off x="417955" y="669913"/>
            <a:ext cx="8915400" cy="464096"/>
          </a:xfrm>
        </p:spPr>
        <p:txBody>
          <a:bodyPr>
            <a:normAutofit fontScale="90000"/>
          </a:bodyPr>
          <a:lstStyle/>
          <a:p>
            <a:pPr algn="ctr"/>
            <a:r>
              <a:rPr lang="en-US" dirty="0">
                <a:latin typeface="Times New Roman" pitchFamily="18" charset="0"/>
                <a:cs typeface="Times New Roman" pitchFamily="18" charset="0"/>
              </a:rPr>
              <a:t>INTRODUCTION</a:t>
            </a:r>
          </a:p>
        </p:txBody>
      </p:sp>
      <p:pic>
        <p:nvPicPr>
          <p:cNvPr id="2" name="Picture 1">
            <a:extLst>
              <a:ext uri="{FF2B5EF4-FFF2-40B4-BE49-F238E27FC236}">
                <a16:creationId xmlns:a16="http://schemas.microsoft.com/office/drawing/2014/main" id="{192B23C2-1DC0-703C-D996-73DED6093028}"/>
              </a:ext>
            </a:extLst>
          </p:cNvPr>
          <p:cNvPicPr>
            <a:picLocks noChangeAspect="1"/>
          </p:cNvPicPr>
          <p:nvPr/>
        </p:nvPicPr>
        <p:blipFill>
          <a:blip r:embed="rId2"/>
          <a:stretch>
            <a:fillRect/>
          </a:stretch>
        </p:blipFill>
        <p:spPr>
          <a:xfrm>
            <a:off x="572644" y="1066595"/>
            <a:ext cx="8760711" cy="4724809"/>
          </a:xfrm>
          <a:prstGeom prst="rect">
            <a:avLst/>
          </a:prstGeom>
        </p:spPr>
      </p:pic>
      <p:sp>
        <p:nvSpPr>
          <p:cNvPr id="3" name="Footer Placeholder 2">
            <a:extLst>
              <a:ext uri="{FF2B5EF4-FFF2-40B4-BE49-F238E27FC236}">
                <a16:creationId xmlns:a16="http://schemas.microsoft.com/office/drawing/2014/main" id="{CB7120D0-45C4-4276-8E05-B8BD522ED521}"/>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endParaRPr lang="en-US" dirty="0"/>
          </a:p>
        </p:txBody>
      </p:sp>
      <p:sp>
        <p:nvSpPr>
          <p:cNvPr id="8" name="Slide Number Placeholder 7">
            <a:extLst>
              <a:ext uri="{FF2B5EF4-FFF2-40B4-BE49-F238E27FC236}">
                <a16:creationId xmlns:a16="http://schemas.microsoft.com/office/drawing/2014/main" id="{6C85AEC1-A700-4551-B5B1-F568D7E6245A}"/>
              </a:ext>
            </a:extLst>
          </p:cNvPr>
          <p:cNvSpPr>
            <a:spLocks noGrp="1"/>
          </p:cNvSpPr>
          <p:nvPr>
            <p:ph type="sldNum" sz="quarter" idx="12"/>
          </p:nvPr>
        </p:nvSpPr>
        <p:spPr/>
        <p:txBody>
          <a:bodyPr/>
          <a:lstStyle/>
          <a:p>
            <a:fld id="{B6F15528-21DE-4FAA-801E-634DDDAF4B2B}" type="slidenum">
              <a:rPr lang="en-US" smtClean="0"/>
              <a:pPr/>
              <a:t>3</a:t>
            </a:fld>
            <a:endParaRPr lang="en-US" dirty="0"/>
          </a:p>
        </p:txBody>
      </p:sp>
      <p:sp>
        <p:nvSpPr>
          <p:cNvPr id="6" name="TextBox 5">
            <a:extLst>
              <a:ext uri="{FF2B5EF4-FFF2-40B4-BE49-F238E27FC236}">
                <a16:creationId xmlns:a16="http://schemas.microsoft.com/office/drawing/2014/main" id="{F4510FC3-C734-7255-5CEE-88961ABA6C6D}"/>
              </a:ext>
            </a:extLst>
          </p:cNvPr>
          <p:cNvSpPr txBox="1"/>
          <p:nvPr/>
        </p:nvSpPr>
        <p:spPr>
          <a:xfrm>
            <a:off x="776536" y="1247996"/>
            <a:ext cx="9001000" cy="369331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Crowd density analysis is essential for ensuring public safety and effective crowd management in areas with high foot traffic. Traditional methods often lack accuracy and scalability in real-time scenarios. This project uses deep learning techniques, particularly Convolutional Neural Networks (CNNs), to automatically estimate crowd density from images or video. The system provides accurate, real-time insights, aiding in better decision-making and situational awareness.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7" name="Picture 2" descr="AI in Crowd Behavior Analysis">
            <a:extLst>
              <a:ext uri="{FF2B5EF4-FFF2-40B4-BE49-F238E27FC236}">
                <a16:creationId xmlns:a16="http://schemas.microsoft.com/office/drawing/2014/main" id="{D658E54A-335F-730D-7812-6CFDFEB0D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201" y="3429000"/>
            <a:ext cx="5547598" cy="2377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5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BA8E-16F4-2935-A93A-4409630D6C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C2E8A4-F296-FD56-7931-6BE4DE4CAEAF}"/>
              </a:ext>
            </a:extLst>
          </p:cNvPr>
          <p:cNvSpPr>
            <a:spLocks noGrp="1"/>
          </p:cNvSpPr>
          <p:nvPr>
            <p:ph type="title"/>
          </p:nvPr>
        </p:nvSpPr>
        <p:spPr>
          <a:xfrm>
            <a:off x="450538" y="717647"/>
            <a:ext cx="8915400" cy="464096"/>
          </a:xfrm>
        </p:spPr>
        <p:txBody>
          <a:bodyPr>
            <a:normAutofit fontScale="90000"/>
          </a:bodyPr>
          <a:lstStyle/>
          <a:p>
            <a:pPr algn="ctr"/>
            <a:r>
              <a:rPr lang="en-US" dirty="0">
                <a:latin typeface="Times New Roman" pitchFamily="18" charset="0"/>
                <a:cs typeface="Times New Roman" pitchFamily="18" charset="0"/>
              </a:rPr>
              <a:t>PROBLEM STATEMENT</a:t>
            </a:r>
          </a:p>
        </p:txBody>
      </p:sp>
      <p:pic>
        <p:nvPicPr>
          <p:cNvPr id="2" name="Picture 1">
            <a:extLst>
              <a:ext uri="{FF2B5EF4-FFF2-40B4-BE49-F238E27FC236}">
                <a16:creationId xmlns:a16="http://schemas.microsoft.com/office/drawing/2014/main" id="{192B23C2-1DC0-703C-D996-73DED6093028}"/>
              </a:ext>
            </a:extLst>
          </p:cNvPr>
          <p:cNvPicPr>
            <a:picLocks noChangeAspect="1"/>
          </p:cNvPicPr>
          <p:nvPr/>
        </p:nvPicPr>
        <p:blipFill>
          <a:blip r:embed="rId2"/>
          <a:stretch>
            <a:fillRect/>
          </a:stretch>
        </p:blipFill>
        <p:spPr>
          <a:xfrm>
            <a:off x="572644" y="1066595"/>
            <a:ext cx="8760711" cy="4724809"/>
          </a:xfrm>
          <a:prstGeom prst="rect">
            <a:avLst/>
          </a:prstGeom>
        </p:spPr>
      </p:pic>
      <p:sp>
        <p:nvSpPr>
          <p:cNvPr id="3" name="Footer Placeholder 2">
            <a:extLst>
              <a:ext uri="{FF2B5EF4-FFF2-40B4-BE49-F238E27FC236}">
                <a16:creationId xmlns:a16="http://schemas.microsoft.com/office/drawing/2014/main" id="{265F3D7A-7D93-423A-A5AD-C766789F99EA}"/>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71165569-01CD-4B1E-9B11-91FC036F6E60}"/>
              </a:ext>
            </a:extLst>
          </p:cNvPr>
          <p:cNvSpPr>
            <a:spLocks noGrp="1"/>
          </p:cNvSpPr>
          <p:nvPr>
            <p:ph type="sldNum" sz="quarter" idx="12"/>
          </p:nvPr>
        </p:nvSpPr>
        <p:spPr/>
        <p:txBody>
          <a:bodyPr/>
          <a:lstStyle/>
          <a:p>
            <a:fld id="{B6F15528-21DE-4FAA-801E-634DDDAF4B2B}" type="slidenum">
              <a:rPr lang="en-US" smtClean="0"/>
              <a:pPr/>
              <a:t>4</a:t>
            </a:fld>
            <a:endParaRPr lang="en-US" dirty="0"/>
          </a:p>
        </p:txBody>
      </p:sp>
      <p:sp>
        <p:nvSpPr>
          <p:cNvPr id="6" name="TextBox 5">
            <a:extLst>
              <a:ext uri="{FF2B5EF4-FFF2-40B4-BE49-F238E27FC236}">
                <a16:creationId xmlns:a16="http://schemas.microsoft.com/office/drawing/2014/main" id="{50DE35DC-EDDE-9D3E-1832-AC68434D673B}"/>
              </a:ext>
            </a:extLst>
          </p:cNvPr>
          <p:cNvSpPr txBox="1"/>
          <p:nvPr/>
        </p:nvSpPr>
        <p:spPr>
          <a:xfrm>
            <a:off x="783104" y="1674673"/>
            <a:ext cx="8575633" cy="1754326"/>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Effective crowd management is challenging with traditional methods that are often manual, slow, and inaccurate. These limitations can pose serious safety risks in densely populated areas. This project aims to develop a deep learning-based system that analyzes images or video feeds to estimate crowd density in real-time. By leveraging convolutional neural networks (CNNs), the system provides accurate, automated insights for improved safety and decision-making.</a:t>
            </a:r>
          </a:p>
        </p:txBody>
      </p:sp>
    </p:spTree>
    <p:extLst>
      <p:ext uri="{BB962C8B-B14F-4D97-AF65-F5344CB8AC3E}">
        <p14:creationId xmlns:p14="http://schemas.microsoft.com/office/powerpoint/2010/main" val="150948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BA8E-16F4-2935-A93A-4409630D6C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C2E8A4-F296-FD56-7931-6BE4DE4CAEAF}"/>
              </a:ext>
            </a:extLst>
          </p:cNvPr>
          <p:cNvSpPr>
            <a:spLocks noGrp="1"/>
          </p:cNvSpPr>
          <p:nvPr>
            <p:ph type="title"/>
          </p:nvPr>
        </p:nvSpPr>
        <p:spPr>
          <a:xfrm>
            <a:off x="802756" y="656703"/>
            <a:ext cx="8915400" cy="464096"/>
          </a:xfrm>
        </p:spPr>
        <p:txBody>
          <a:bodyPr>
            <a:normAutofit fontScale="90000"/>
          </a:bodyPr>
          <a:lstStyle/>
          <a:p>
            <a:pPr algn="ctr"/>
            <a:r>
              <a:rPr lang="en-US" sz="3600" dirty="0">
                <a:latin typeface="Times New Roman" pitchFamily="18" charset="0"/>
                <a:cs typeface="Times New Roman" pitchFamily="18" charset="0"/>
              </a:rPr>
              <a:t>LITERATURE SURVEY</a:t>
            </a:r>
            <a:endParaRPr lang="en-US"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192B23C2-1DC0-703C-D996-73DED6093028}"/>
              </a:ext>
            </a:extLst>
          </p:cNvPr>
          <p:cNvPicPr>
            <a:picLocks noChangeAspect="1"/>
          </p:cNvPicPr>
          <p:nvPr/>
        </p:nvPicPr>
        <p:blipFill>
          <a:blip r:embed="rId2"/>
          <a:stretch>
            <a:fillRect/>
          </a:stretch>
        </p:blipFill>
        <p:spPr>
          <a:xfrm>
            <a:off x="572644" y="1066595"/>
            <a:ext cx="8760711" cy="4724809"/>
          </a:xfrm>
          <a:prstGeom prst="rect">
            <a:avLst/>
          </a:prstGeom>
        </p:spPr>
      </p:pic>
      <p:sp>
        <p:nvSpPr>
          <p:cNvPr id="3" name="Footer Placeholder 2">
            <a:extLst>
              <a:ext uri="{FF2B5EF4-FFF2-40B4-BE49-F238E27FC236}">
                <a16:creationId xmlns:a16="http://schemas.microsoft.com/office/drawing/2014/main" id="{265F3D7A-7D93-423A-A5AD-C766789F99EA}"/>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71165569-01CD-4B1E-9B11-91FC036F6E60}"/>
              </a:ext>
            </a:extLst>
          </p:cNvPr>
          <p:cNvSpPr>
            <a:spLocks noGrp="1"/>
          </p:cNvSpPr>
          <p:nvPr>
            <p:ph type="sldNum" sz="quarter" idx="12"/>
          </p:nvPr>
        </p:nvSpPr>
        <p:spPr/>
        <p:txBody>
          <a:bodyPr/>
          <a:lstStyle/>
          <a:p>
            <a:fld id="{B6F15528-21DE-4FAA-801E-634DDDAF4B2B}" type="slidenum">
              <a:rPr lang="en-US" smtClean="0"/>
              <a:pPr/>
              <a:t>5</a:t>
            </a:fld>
            <a:endParaRPr lang="en-US" dirty="0"/>
          </a:p>
        </p:txBody>
      </p:sp>
      <p:graphicFrame>
        <p:nvGraphicFramePr>
          <p:cNvPr id="7" name="Table 6">
            <a:extLst>
              <a:ext uri="{FF2B5EF4-FFF2-40B4-BE49-F238E27FC236}">
                <a16:creationId xmlns:a16="http://schemas.microsoft.com/office/drawing/2014/main" id="{5C11080B-40C0-DE41-AE9F-EA8656E596A4}"/>
              </a:ext>
            </a:extLst>
          </p:cNvPr>
          <p:cNvGraphicFramePr>
            <a:graphicFrameLocks noGrp="1"/>
          </p:cNvGraphicFramePr>
          <p:nvPr>
            <p:extLst>
              <p:ext uri="{D42A27DB-BD31-4B8C-83A1-F6EECF244321}">
                <p14:modId xmlns:p14="http://schemas.microsoft.com/office/powerpoint/2010/main" val="2892057212"/>
              </p:ext>
            </p:extLst>
          </p:nvPr>
        </p:nvGraphicFramePr>
        <p:xfrm>
          <a:off x="632520" y="1382333"/>
          <a:ext cx="8962094" cy="4753477"/>
        </p:xfrm>
        <a:graphic>
          <a:graphicData uri="http://schemas.openxmlformats.org/drawingml/2006/table">
            <a:tbl>
              <a:tblPr firstRow="1" firstCol="1" bandRow="1">
                <a:tableStyleId>{5C22544A-7EE6-4342-B048-85BDC9FD1C3A}</a:tableStyleId>
              </a:tblPr>
              <a:tblGrid>
                <a:gridCol w="470289">
                  <a:extLst>
                    <a:ext uri="{9D8B030D-6E8A-4147-A177-3AD203B41FA5}">
                      <a16:colId xmlns:a16="http://schemas.microsoft.com/office/drawing/2014/main" val="323854173"/>
                    </a:ext>
                  </a:extLst>
                </a:gridCol>
                <a:gridCol w="3334003">
                  <a:extLst>
                    <a:ext uri="{9D8B030D-6E8A-4147-A177-3AD203B41FA5}">
                      <a16:colId xmlns:a16="http://schemas.microsoft.com/office/drawing/2014/main" val="568188060"/>
                    </a:ext>
                  </a:extLst>
                </a:gridCol>
                <a:gridCol w="1368152">
                  <a:extLst>
                    <a:ext uri="{9D8B030D-6E8A-4147-A177-3AD203B41FA5}">
                      <a16:colId xmlns:a16="http://schemas.microsoft.com/office/drawing/2014/main" val="3788285035"/>
                    </a:ext>
                  </a:extLst>
                </a:gridCol>
                <a:gridCol w="360040">
                  <a:extLst>
                    <a:ext uri="{9D8B030D-6E8A-4147-A177-3AD203B41FA5}">
                      <a16:colId xmlns:a16="http://schemas.microsoft.com/office/drawing/2014/main" val="2948711586"/>
                    </a:ext>
                  </a:extLst>
                </a:gridCol>
                <a:gridCol w="1440160">
                  <a:extLst>
                    <a:ext uri="{9D8B030D-6E8A-4147-A177-3AD203B41FA5}">
                      <a16:colId xmlns:a16="http://schemas.microsoft.com/office/drawing/2014/main" val="3550027487"/>
                    </a:ext>
                  </a:extLst>
                </a:gridCol>
                <a:gridCol w="1989450">
                  <a:extLst>
                    <a:ext uri="{9D8B030D-6E8A-4147-A177-3AD203B41FA5}">
                      <a16:colId xmlns:a16="http://schemas.microsoft.com/office/drawing/2014/main" val="1004754237"/>
                    </a:ext>
                  </a:extLst>
                </a:gridCol>
              </a:tblGrid>
              <a:tr h="305189">
                <a:tc>
                  <a:txBody>
                    <a:bodyPr/>
                    <a:lstStyle/>
                    <a:p>
                      <a:pPr algn="ct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Sl. No.</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Title</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Journal/Conference</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Year</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Contributions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Limitations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nchor="ctr"/>
                </a:tc>
                <a:extLst>
                  <a:ext uri="{0D108BD9-81ED-4DB2-BD59-A6C34878D82A}">
                    <a16:rowId xmlns:a16="http://schemas.microsoft.com/office/drawing/2014/main" val="2044000166"/>
                  </a:ext>
                </a:extLst>
              </a:tr>
              <a:tr h="1520567">
                <a:tc>
                  <a:txBody>
                    <a:bodyPr/>
                    <a:lstStyle/>
                    <a:p>
                      <a:pPr algn="ct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1</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Integrating Explainable Artificial Intelligence with Advanced Deep Learning Model for Crowd Density Estimation in Real-World Surveillance Systems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IEEE Access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2025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Introduces an advanced deep learning model integrated with explainable AI for real-time crowd density estimation in surveillance systems.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Limited scalability in highly dynamic environments.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extLst>
                  <a:ext uri="{0D108BD9-81ED-4DB2-BD59-A6C34878D82A}">
                    <a16:rowId xmlns:a16="http://schemas.microsoft.com/office/drawing/2014/main" val="3295056939"/>
                  </a:ext>
                </a:extLst>
              </a:tr>
              <a:tr h="1368832">
                <a:tc>
                  <a:txBody>
                    <a:bodyPr/>
                    <a:lstStyle/>
                    <a:p>
                      <a:pPr algn="ct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2</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An Analysis Approach for Crowds with Varying Density and Complexity Using Image Data</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29th International Conference on Information Technology (IT), </a:t>
                      </a:r>
                      <a:r>
                        <a:rPr lang="en-IN" sz="1200" kern="100" dirty="0" err="1">
                          <a:effectLst/>
                          <a:latin typeface="Times New Roman" panose="02020603050405020304" pitchFamily="18" charset="0"/>
                          <a:cs typeface="Times New Roman" panose="02020603050405020304" pitchFamily="18" charset="0"/>
                        </a:rPr>
                        <a:t>Zabljak</a:t>
                      </a:r>
                      <a:r>
                        <a:rPr lang="en-IN" sz="1200" kern="100" dirty="0">
                          <a:effectLst/>
                          <a:latin typeface="Times New Roman" panose="02020603050405020304" pitchFamily="18" charset="0"/>
                          <a:cs typeface="Times New Roman" panose="02020603050405020304" pitchFamily="18" charset="0"/>
                        </a:rPr>
                        <a:t>, Montenegro</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2025</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Proposes a method for </a:t>
                      </a:r>
                      <a:r>
                        <a:rPr lang="en-IN" sz="1200" kern="100" dirty="0" err="1">
                          <a:effectLst/>
                          <a:latin typeface="Times New Roman" panose="02020603050405020304" pitchFamily="18" charset="0"/>
                          <a:cs typeface="Times New Roman" panose="02020603050405020304" pitchFamily="18" charset="0"/>
                        </a:rPr>
                        <a:t>analyzing</a:t>
                      </a:r>
                      <a:r>
                        <a:rPr lang="en-IN" sz="1200" kern="100" dirty="0">
                          <a:effectLst/>
                          <a:latin typeface="Times New Roman" panose="02020603050405020304" pitchFamily="18" charset="0"/>
                          <a:cs typeface="Times New Roman" panose="02020603050405020304" pitchFamily="18" charset="0"/>
                        </a:rPr>
                        <a:t> crowds with varying density and complexity using image data, enhancing understanding of crowd </a:t>
                      </a:r>
                      <a:r>
                        <a:rPr lang="en-IN" sz="1200" kern="100" dirty="0" err="1">
                          <a:effectLst/>
                          <a:latin typeface="Times New Roman" panose="02020603050405020304" pitchFamily="18" charset="0"/>
                          <a:cs typeface="Times New Roman" panose="02020603050405020304" pitchFamily="18" charset="0"/>
                        </a:rPr>
                        <a:t>behaviors</a:t>
                      </a:r>
                      <a:r>
                        <a:rPr lang="en-IN" sz="1200" kern="100" dirty="0">
                          <a:effectLst/>
                          <a:latin typeface="Times New Roman" panose="02020603050405020304" pitchFamily="18" charset="0"/>
                          <a:cs typeface="Times New Roman" panose="02020603050405020304" pitchFamily="18" charset="0"/>
                        </a:rPr>
                        <a:t>.</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May require extensive computational resources for processing complex images.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extLst>
                  <a:ext uri="{0D108BD9-81ED-4DB2-BD59-A6C34878D82A}">
                    <a16:rowId xmlns:a16="http://schemas.microsoft.com/office/drawing/2014/main" val="1726539803"/>
                  </a:ext>
                </a:extLst>
              </a:tr>
              <a:tr h="1520567">
                <a:tc>
                  <a:txBody>
                    <a:bodyPr/>
                    <a:lstStyle/>
                    <a:p>
                      <a:pPr algn="ct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A Novel Approach for Crowd Analysis and Density Estimation by Using Machine Learning Techniques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International Conference on Intelligent Systems for Cybersecurity (ISCS)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2024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Develops a machine learning-based approach for crowd analysis and density estimation, focusing on accuracy and efficiency.</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Potential challenges in handling noisy or incomplete data.</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576" marR="2576" marT="6441" marB="0"/>
                </a:tc>
                <a:extLst>
                  <a:ext uri="{0D108BD9-81ED-4DB2-BD59-A6C34878D82A}">
                    <a16:rowId xmlns:a16="http://schemas.microsoft.com/office/drawing/2014/main" val="2565377110"/>
                  </a:ext>
                </a:extLst>
              </a:tr>
            </a:tbl>
          </a:graphicData>
        </a:graphic>
      </p:graphicFrame>
    </p:spTree>
    <p:extLst>
      <p:ext uri="{BB962C8B-B14F-4D97-AF65-F5344CB8AC3E}">
        <p14:creationId xmlns:p14="http://schemas.microsoft.com/office/powerpoint/2010/main" val="198987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82C7EC68-1003-1DBA-6681-0A4F80F2C9C3}"/>
              </a:ext>
            </a:extLst>
          </p:cNvPr>
          <p:cNvGraphicFramePr>
            <a:graphicFrameLocks noGrp="1"/>
          </p:cNvGraphicFramePr>
          <p:nvPr>
            <p:ph idx="1"/>
            <p:extLst>
              <p:ext uri="{D42A27DB-BD31-4B8C-83A1-F6EECF244321}">
                <p14:modId xmlns:p14="http://schemas.microsoft.com/office/powerpoint/2010/main" val="2406479185"/>
              </p:ext>
            </p:extLst>
          </p:nvPr>
        </p:nvGraphicFramePr>
        <p:xfrm>
          <a:off x="704528" y="1484784"/>
          <a:ext cx="8659971" cy="4670852"/>
        </p:xfrm>
        <a:graphic>
          <a:graphicData uri="http://schemas.openxmlformats.org/drawingml/2006/table">
            <a:tbl>
              <a:tblPr firstRow="1" firstCol="1" bandRow="1">
                <a:tableStyleId>{5C22544A-7EE6-4342-B048-85BDC9FD1C3A}</a:tableStyleId>
              </a:tblPr>
              <a:tblGrid>
                <a:gridCol w="394859">
                  <a:extLst>
                    <a:ext uri="{9D8B030D-6E8A-4147-A177-3AD203B41FA5}">
                      <a16:colId xmlns:a16="http://schemas.microsoft.com/office/drawing/2014/main" val="3346690516"/>
                    </a:ext>
                  </a:extLst>
                </a:gridCol>
                <a:gridCol w="2917509">
                  <a:extLst>
                    <a:ext uri="{9D8B030D-6E8A-4147-A177-3AD203B41FA5}">
                      <a16:colId xmlns:a16="http://schemas.microsoft.com/office/drawing/2014/main" val="3220866244"/>
                    </a:ext>
                  </a:extLst>
                </a:gridCol>
                <a:gridCol w="1728192">
                  <a:extLst>
                    <a:ext uri="{9D8B030D-6E8A-4147-A177-3AD203B41FA5}">
                      <a16:colId xmlns:a16="http://schemas.microsoft.com/office/drawing/2014/main" val="947560033"/>
                    </a:ext>
                  </a:extLst>
                </a:gridCol>
                <a:gridCol w="432048">
                  <a:extLst>
                    <a:ext uri="{9D8B030D-6E8A-4147-A177-3AD203B41FA5}">
                      <a16:colId xmlns:a16="http://schemas.microsoft.com/office/drawing/2014/main" val="4231909351"/>
                    </a:ext>
                  </a:extLst>
                </a:gridCol>
                <a:gridCol w="1296144">
                  <a:extLst>
                    <a:ext uri="{9D8B030D-6E8A-4147-A177-3AD203B41FA5}">
                      <a16:colId xmlns:a16="http://schemas.microsoft.com/office/drawing/2014/main" val="2943566577"/>
                    </a:ext>
                  </a:extLst>
                </a:gridCol>
                <a:gridCol w="1891219">
                  <a:extLst>
                    <a:ext uri="{9D8B030D-6E8A-4147-A177-3AD203B41FA5}">
                      <a16:colId xmlns:a16="http://schemas.microsoft.com/office/drawing/2014/main" val="818481245"/>
                    </a:ext>
                  </a:extLst>
                </a:gridCol>
              </a:tblGrid>
              <a:tr h="272310">
                <a:tc>
                  <a:txBody>
                    <a:bodyPr/>
                    <a:lstStyle/>
                    <a:p>
                      <a:pPr algn="ct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Sl. No.</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Title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Journal/Conference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Year</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Contributions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Limitations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nchor="ctr"/>
                </a:tc>
                <a:extLst>
                  <a:ext uri="{0D108BD9-81ED-4DB2-BD59-A6C34878D82A}">
                    <a16:rowId xmlns:a16="http://schemas.microsoft.com/office/drawing/2014/main" val="4083333525"/>
                  </a:ext>
                </a:extLst>
              </a:tr>
              <a:tr h="1356749">
                <a:tc>
                  <a:txBody>
                    <a:bodyPr/>
                    <a:lstStyle/>
                    <a:p>
                      <a:pPr algn="ct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Deep Learning in Crowd Analysis: A Survey of Current Research Trends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17th International Conference on Electronics Computer and Computation (ICECCO), </a:t>
                      </a:r>
                      <a:r>
                        <a:rPr lang="en-IN" sz="1200" kern="100" dirty="0" err="1">
                          <a:effectLst/>
                          <a:latin typeface="Times New Roman" panose="02020603050405020304" pitchFamily="18" charset="0"/>
                          <a:cs typeface="Times New Roman" panose="02020603050405020304" pitchFamily="18" charset="0"/>
                        </a:rPr>
                        <a:t>Kaskelen</a:t>
                      </a:r>
                      <a:r>
                        <a:rPr lang="en-IN" sz="1200" kern="100" dirty="0">
                          <a:effectLst/>
                          <a:latin typeface="Times New Roman" panose="02020603050405020304" pitchFamily="18" charset="0"/>
                          <a:cs typeface="Times New Roman" panose="02020603050405020304" pitchFamily="18" charset="0"/>
                        </a:rPr>
                        <a:t>, Kazakhstan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2023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Provides a comprehensive survey of deep learning techniques in crowd analysis, highlighting recent advancements and trends.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Limited focus on practical implementation challenges.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extLst>
                  <a:ext uri="{0D108BD9-81ED-4DB2-BD59-A6C34878D82A}">
                    <a16:rowId xmlns:a16="http://schemas.microsoft.com/office/drawing/2014/main" val="1476227515"/>
                  </a:ext>
                </a:extLst>
              </a:tr>
              <a:tr h="1356749">
                <a:tc>
                  <a:txBody>
                    <a:bodyPr/>
                    <a:lstStyle/>
                    <a:p>
                      <a:pPr algn="ct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Design of Artificial Intelligence Driven Crowd Density Analysis for Sustainable Smart Cities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IEEE Access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2024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Presents a design for AI-driven crowd density analysis tailored for sustainable smart cities, emphasizing real-time data processing.</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Scalability issues in large urban areas with diverse crowd behaviors.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extLst>
                  <a:ext uri="{0D108BD9-81ED-4DB2-BD59-A6C34878D82A}">
                    <a16:rowId xmlns:a16="http://schemas.microsoft.com/office/drawing/2014/main" val="2977198354"/>
                  </a:ext>
                </a:extLst>
              </a:tr>
              <a:tr h="1085640">
                <a:tc>
                  <a:txBody>
                    <a:bodyPr/>
                    <a:lstStyle/>
                    <a:p>
                      <a:pPr algn="ct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6</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Bigdata Enabled Realtime Crowd Surveillance Using Artificial Intelligence And Deep Learning</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IEEE International Conference on Big Data and Smart Computing (BigComp), Jeju Island, Korea</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2021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a:effectLst/>
                          <a:latin typeface="Times New Roman" panose="02020603050405020304" pitchFamily="18" charset="0"/>
                          <a:cs typeface="Times New Roman" panose="02020603050405020304" pitchFamily="18" charset="0"/>
                        </a:rPr>
                        <a:t>Explores the integration of big data analytics with AI and deep learning for real-time crowd surveillance.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tc>
                  <a:txBody>
                    <a:bodyPr/>
                    <a:lstStyle/>
                    <a:p>
                      <a:pPr>
                        <a:lnSpc>
                          <a:spcPct val="107000"/>
                        </a:lnSpc>
                        <a:spcAft>
                          <a:spcPts val="800"/>
                        </a:spcAft>
                        <a:buNone/>
                      </a:pPr>
                      <a:r>
                        <a:rPr lang="en-IN" sz="1200" kern="100" dirty="0">
                          <a:effectLst/>
                          <a:latin typeface="Times New Roman" panose="02020603050405020304" pitchFamily="18" charset="0"/>
                          <a:cs typeface="Times New Roman" panose="02020603050405020304" pitchFamily="18" charset="0"/>
                        </a:rPr>
                        <a:t>High dependency on data quality and availability.</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672" marR="2672" marT="6679" marB="0"/>
                </a:tc>
                <a:extLst>
                  <a:ext uri="{0D108BD9-81ED-4DB2-BD59-A6C34878D82A}">
                    <a16:rowId xmlns:a16="http://schemas.microsoft.com/office/drawing/2014/main" val="1862691778"/>
                  </a:ext>
                </a:extLst>
              </a:tr>
            </a:tbl>
          </a:graphicData>
        </a:graphic>
      </p:graphicFrame>
      <p:sp>
        <p:nvSpPr>
          <p:cNvPr id="4" name="Footer Placeholder 3">
            <a:extLst>
              <a:ext uri="{FF2B5EF4-FFF2-40B4-BE49-F238E27FC236}">
                <a16:creationId xmlns:a16="http://schemas.microsoft.com/office/drawing/2014/main" id="{DECE92A6-69AC-CECA-8287-92E6C0813F38}"/>
              </a:ext>
            </a:extLst>
          </p:cNvPr>
          <p:cNvSpPr>
            <a:spLocks noGrp="1"/>
          </p:cNvSpPr>
          <p:nvPr>
            <p:ph type="ftr" sz="quarter" idx="11"/>
          </p:nvPr>
        </p:nvSpPr>
        <p:spPr/>
        <p:txBody>
          <a:bodyPr/>
          <a:lstStyle/>
          <a:p>
            <a:r>
              <a:rPr lang="en-US"/>
              <a:t>Dept. of ECE, GAT</a:t>
            </a:r>
            <a:endParaRPr lang="en-US" dirty="0"/>
          </a:p>
        </p:txBody>
      </p:sp>
      <p:sp>
        <p:nvSpPr>
          <p:cNvPr id="5" name="Slide Number Placeholder 4">
            <a:extLst>
              <a:ext uri="{FF2B5EF4-FFF2-40B4-BE49-F238E27FC236}">
                <a16:creationId xmlns:a16="http://schemas.microsoft.com/office/drawing/2014/main" id="{4CEEB117-40AD-FA18-9006-3D1D6AB3733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extLst>
      <p:ext uri="{BB962C8B-B14F-4D97-AF65-F5344CB8AC3E}">
        <p14:creationId xmlns:p14="http://schemas.microsoft.com/office/powerpoint/2010/main" val="1624720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9A18-C586-403E-70F2-D9A6DDFC98D9}"/>
              </a:ext>
            </a:extLst>
          </p:cNvPr>
          <p:cNvSpPr>
            <a:spLocks noGrp="1"/>
          </p:cNvSpPr>
          <p:nvPr>
            <p:ph type="title"/>
          </p:nvPr>
        </p:nvSpPr>
        <p:spPr>
          <a:xfrm>
            <a:off x="1640632" y="722572"/>
            <a:ext cx="7604969" cy="860674"/>
          </a:xfrm>
        </p:spPr>
        <p:txBody>
          <a:bodyPr>
            <a:normAutofit/>
          </a:bodyPr>
          <a:lstStyle/>
          <a:p>
            <a:pPr algn="ctr"/>
            <a:r>
              <a:rPr lang="en-US" sz="3200" dirty="0">
                <a:latin typeface="Times New Roman" panose="02020603050405020304" pitchFamily="18" charset="0"/>
                <a:cs typeface="Times New Roman" panose="02020603050405020304" pitchFamily="18" charset="0"/>
              </a:rPr>
              <a:t>OBJECTIVES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7F315E-4735-E24B-605C-42980034C2BD}"/>
              </a:ext>
            </a:extLst>
          </p:cNvPr>
          <p:cNvSpPr>
            <a:spLocks noGrp="1"/>
          </p:cNvSpPr>
          <p:nvPr>
            <p:ph idx="1"/>
          </p:nvPr>
        </p:nvSpPr>
        <p:spPr>
          <a:xfrm>
            <a:off x="1290217" y="1875791"/>
            <a:ext cx="7820993" cy="3777622"/>
          </a:xfrm>
        </p:spPr>
        <p:txBody>
          <a:bodyPr/>
          <a:lstStyle/>
          <a:p>
            <a:pPr algn="just" defTabSz="914400" eaLnBrk="0" fontAlgn="base" hangingPunct="0">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To develop a deep learning model capable of accurately estimating crowd density from images or video feeds using convolutional neural networks (CNNs).</a:t>
            </a:r>
          </a:p>
          <a:p>
            <a:pPr algn="just" defTabSz="914400" eaLnBrk="0" fontAlgn="base" hangingPunct="0">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To implement real-time processing for continuous monitoring of crowd density in dynamic environments.</a:t>
            </a:r>
          </a:p>
          <a:p>
            <a:pPr algn="just" defTabSz="914400" eaLnBrk="0" fontAlgn="base" hangingPunct="0">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To evaluate the model's performance across different scenarios and crowd conditions to ensure robustness and accuracy.</a:t>
            </a:r>
          </a:p>
          <a:p>
            <a:pPr algn="just" defTabSz="914400" eaLnBrk="0" fontAlgn="base" hangingPunct="0">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To create a user-friendly interface or dashboard for visualizing crowd density data and supporting decision-making in real-world applications.</a:t>
            </a:r>
          </a:p>
          <a:p>
            <a:pPr marL="0" indent="0" algn="just">
              <a:buNone/>
            </a:pPr>
            <a:endParaRPr lang="en-IN" dirty="0"/>
          </a:p>
        </p:txBody>
      </p:sp>
      <p:sp>
        <p:nvSpPr>
          <p:cNvPr id="4" name="Footer Placeholder 3">
            <a:extLst>
              <a:ext uri="{FF2B5EF4-FFF2-40B4-BE49-F238E27FC236}">
                <a16:creationId xmlns:a16="http://schemas.microsoft.com/office/drawing/2014/main" id="{8557D50D-FD86-4A5F-8C6C-65DD7ED55089}"/>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2B5AEF15-B034-4AAC-80C9-D994B3208966}"/>
              </a:ext>
            </a:extLst>
          </p:cNvPr>
          <p:cNvSpPr>
            <a:spLocks noGrp="1"/>
          </p:cNvSpPr>
          <p:nvPr>
            <p:ph type="sldNum" sz="quarter" idx="12"/>
          </p:nvPr>
        </p:nvSpPr>
        <p:spPr/>
        <p:txBody>
          <a:bodyPr/>
          <a:lstStyle/>
          <a:p>
            <a:fld id="{B6F15528-21DE-4FAA-801E-634DDDAF4B2B}" type="slidenum">
              <a:rPr lang="en-US" smtClean="0"/>
              <a:pPr/>
              <a:t>7</a:t>
            </a:fld>
            <a:endParaRPr lang="en-US" dirty="0"/>
          </a:p>
        </p:txBody>
      </p:sp>
    </p:spTree>
    <p:extLst>
      <p:ext uri="{BB962C8B-B14F-4D97-AF65-F5344CB8AC3E}">
        <p14:creationId xmlns:p14="http://schemas.microsoft.com/office/powerpoint/2010/main" val="338706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9A18-C586-403E-70F2-D9A6DDFC98D9}"/>
              </a:ext>
            </a:extLst>
          </p:cNvPr>
          <p:cNvSpPr>
            <a:spLocks noGrp="1"/>
          </p:cNvSpPr>
          <p:nvPr>
            <p:ph type="title"/>
          </p:nvPr>
        </p:nvSpPr>
        <p:spPr>
          <a:xfrm>
            <a:off x="1740376" y="135297"/>
            <a:ext cx="7604969" cy="779874"/>
          </a:xfrm>
        </p:spPr>
        <p:txBody>
          <a:bodyPr>
            <a:normAutofit/>
          </a:bodyPr>
          <a:lstStyle/>
          <a:p>
            <a:pPr algn="ctr"/>
            <a:r>
              <a:rPr lang="en-US" sz="3200" dirty="0">
                <a:latin typeface="Times New Roman" panose="02020603050405020304" pitchFamily="18" charset="0"/>
                <a:cs typeface="Times New Roman" panose="02020603050405020304" pitchFamily="18" charset="0"/>
              </a:rPr>
              <a:t>METHODOLOGY</a:t>
            </a:r>
            <a:endParaRPr lang="en-IN" sz="3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557D50D-FD86-4A5F-8C6C-65DD7ED55089}"/>
              </a:ext>
            </a:extLst>
          </p:cNvPr>
          <p:cNvSpPr>
            <a:spLocks noGrp="1"/>
          </p:cNvSpPr>
          <p:nvPr>
            <p:ph type="ftr" sz="quarter" idx="11"/>
          </p:nvPr>
        </p:nvSpPr>
        <p:spPr>
          <a:xfrm>
            <a:off x="2216695" y="6458872"/>
            <a:ext cx="6192862" cy="365125"/>
          </a:xfrm>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2B5AEF15-B034-4AAC-80C9-D994B3208966}"/>
              </a:ext>
            </a:extLst>
          </p:cNvPr>
          <p:cNvSpPr>
            <a:spLocks noGrp="1"/>
          </p:cNvSpPr>
          <p:nvPr>
            <p:ph type="sldNum" sz="quarter" idx="12"/>
          </p:nvPr>
        </p:nvSpPr>
        <p:spPr/>
        <p:txBody>
          <a:bodyPr/>
          <a:lstStyle/>
          <a:p>
            <a:fld id="{B6F15528-21DE-4FAA-801E-634DDDAF4B2B}" type="slidenum">
              <a:rPr lang="en-US" smtClean="0"/>
              <a:pPr/>
              <a:t>8</a:t>
            </a:fld>
            <a:endParaRPr lang="en-US" dirty="0"/>
          </a:p>
        </p:txBody>
      </p:sp>
      <p:pic>
        <p:nvPicPr>
          <p:cNvPr id="16" name="Content Placeholder 15">
            <a:extLst>
              <a:ext uri="{FF2B5EF4-FFF2-40B4-BE49-F238E27FC236}">
                <a16:creationId xmlns:a16="http://schemas.microsoft.com/office/drawing/2014/main" id="{CBCC2246-698C-9098-1267-62347C3FF8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0912" y="787784"/>
            <a:ext cx="2508439" cy="4824536"/>
          </a:xfrm>
        </p:spPr>
      </p:pic>
      <p:sp>
        <p:nvSpPr>
          <p:cNvPr id="18" name="TextBox 17">
            <a:extLst>
              <a:ext uri="{FF2B5EF4-FFF2-40B4-BE49-F238E27FC236}">
                <a16:creationId xmlns:a16="http://schemas.microsoft.com/office/drawing/2014/main" id="{387E2E24-2FA7-A4CB-74B8-3FC7D9C6E211}"/>
              </a:ext>
            </a:extLst>
          </p:cNvPr>
          <p:cNvSpPr txBox="1"/>
          <p:nvPr/>
        </p:nvSpPr>
        <p:spPr>
          <a:xfrm>
            <a:off x="4125211" y="5706001"/>
            <a:ext cx="2508439" cy="923330"/>
          </a:xfrm>
          <a:prstGeom prst="rect">
            <a:avLst/>
          </a:prstGeom>
          <a:noFill/>
        </p:spPr>
        <p:txBody>
          <a:bodyPr wrap="square" rtlCol="0">
            <a:spAutoFit/>
          </a:bodyPr>
          <a:lstStyle/>
          <a:p>
            <a:pPr algn="ctr"/>
            <a:r>
              <a:rPr lang="en-IN" sz="1200" dirty="0"/>
              <a:t>Figure 2 </a:t>
            </a:r>
            <a:br>
              <a:rPr lang="en-IN" sz="1200" dirty="0"/>
            </a:br>
            <a:r>
              <a:rPr lang="en-IN" sz="1200" dirty="0"/>
              <a:t>Flow Chart of Crowd density analysis</a:t>
            </a:r>
            <a:br>
              <a:rPr lang="en-IN" dirty="0"/>
            </a:br>
            <a:endParaRPr lang="en-IN" dirty="0"/>
          </a:p>
        </p:txBody>
      </p:sp>
    </p:spTree>
    <p:extLst>
      <p:ext uri="{BB962C8B-B14F-4D97-AF65-F5344CB8AC3E}">
        <p14:creationId xmlns:p14="http://schemas.microsoft.com/office/powerpoint/2010/main" val="181464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ADD1A-CE74-0F2F-1D72-1A7944C7BD0B}"/>
              </a:ext>
            </a:extLst>
          </p:cNvPr>
          <p:cNvSpPr>
            <a:spLocks noGrp="1"/>
          </p:cNvSpPr>
          <p:nvPr>
            <p:ph type="ftr" sz="quarter" idx="11"/>
          </p:nvPr>
        </p:nvSpPr>
        <p:spPr/>
        <p:txBody>
          <a:bodyPr/>
          <a:lstStyle/>
          <a:p>
            <a:r>
              <a:rPr lang="en-US"/>
              <a:t>Dept. of ECE, GAT</a:t>
            </a:r>
            <a:endParaRPr lang="en-US" dirty="0"/>
          </a:p>
        </p:txBody>
      </p:sp>
      <p:sp>
        <p:nvSpPr>
          <p:cNvPr id="3" name="Slide Number Placeholder 2">
            <a:extLst>
              <a:ext uri="{FF2B5EF4-FFF2-40B4-BE49-F238E27FC236}">
                <a16:creationId xmlns:a16="http://schemas.microsoft.com/office/drawing/2014/main" id="{146413EE-DA72-8DA7-BF56-A687D3C26BD0}"/>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6" name="TextBox 5">
            <a:extLst>
              <a:ext uri="{FF2B5EF4-FFF2-40B4-BE49-F238E27FC236}">
                <a16:creationId xmlns:a16="http://schemas.microsoft.com/office/drawing/2014/main" id="{51C4230E-0BAE-6886-D4E7-0EBFC67F556A}"/>
              </a:ext>
            </a:extLst>
          </p:cNvPr>
          <p:cNvSpPr txBox="1"/>
          <p:nvPr/>
        </p:nvSpPr>
        <p:spPr>
          <a:xfrm>
            <a:off x="1424608" y="1412776"/>
            <a:ext cx="7992888" cy="2862322"/>
          </a:xfrm>
          <a:prstGeom prst="rect">
            <a:avLst/>
          </a:prstGeom>
          <a:noFill/>
        </p:spPr>
        <p:txBody>
          <a:bodyPr wrap="square">
            <a:spAutoFit/>
          </a:bodyPr>
          <a:lstStyle/>
          <a:p>
            <a:pPr marL="285750" indent="-285750" algn="just">
              <a:buFont typeface="Arial" panose="020B0604020202020204" pitchFamily="34" charset="0"/>
              <a:buChar char="•"/>
            </a:pPr>
            <a:r>
              <a:rPr lang="en-US" dirty="0"/>
              <a:t> </a:t>
            </a:r>
            <a:r>
              <a:rPr lang="en-US" dirty="0">
                <a:latin typeface="Times New Roman" panose="02020603050405020304" pitchFamily="18" charset="0"/>
                <a:cs typeface="Times New Roman" panose="02020603050405020304" pitchFamily="18" charset="0"/>
              </a:rPr>
              <a:t>Crowd images or video frames are collected from CCTV or public datasets, then resized, normalized, and preprocessed for analysis.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Ground-truth annotations marking each person are converted into smooth density maps using Gaussian filters for accurate training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deep learning model such as CSRNet is trained to learn the relationship between input images and their corresponding density maps using Mean Squared Error loss.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is tested on new images to predict density maps, and the total crowd count is obtained by summing all pixel values, which is visualized as a heat map showing crowd distribution.</a:t>
            </a:r>
          </a:p>
        </p:txBody>
      </p:sp>
    </p:spTree>
    <p:extLst>
      <p:ext uri="{BB962C8B-B14F-4D97-AF65-F5344CB8AC3E}">
        <p14:creationId xmlns:p14="http://schemas.microsoft.com/office/powerpoint/2010/main" val="2435045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2A267C-ECBB-39C5-1FBB-7B4C49228A1E}"/>
              </a:ext>
            </a:extLst>
          </p:cNvPr>
          <p:cNvSpPr>
            <a:spLocks noGrp="1"/>
          </p:cNvSpPr>
          <p:nvPr>
            <p:ph type="title"/>
          </p:nvPr>
        </p:nvSpPr>
        <p:spPr>
          <a:xfrm>
            <a:off x="1383850" y="548680"/>
            <a:ext cx="7138300" cy="1280890"/>
          </a:xfrm>
        </p:spPr>
        <p:txBody>
          <a:bodyPr/>
          <a:lstStyle/>
          <a:p>
            <a:r>
              <a:rPr lang="en-IN" dirty="0"/>
              <a:t>                       RESULTS</a:t>
            </a:r>
          </a:p>
        </p:txBody>
      </p:sp>
      <p:sp>
        <p:nvSpPr>
          <p:cNvPr id="2" name="Footer Placeholder 1">
            <a:extLst>
              <a:ext uri="{FF2B5EF4-FFF2-40B4-BE49-F238E27FC236}">
                <a16:creationId xmlns:a16="http://schemas.microsoft.com/office/drawing/2014/main" id="{8BCBF2CE-A2E5-B06D-1FF5-A22353249CC5}"/>
              </a:ext>
            </a:extLst>
          </p:cNvPr>
          <p:cNvSpPr>
            <a:spLocks noGrp="1"/>
          </p:cNvSpPr>
          <p:nvPr>
            <p:ph type="ftr" sz="quarter" idx="11"/>
          </p:nvPr>
        </p:nvSpPr>
        <p:spPr/>
        <p:txBody>
          <a:bodyPr/>
          <a:lstStyle/>
          <a:p>
            <a:r>
              <a:rPr lang="en-US"/>
              <a:t>Dept. of ECE, GAT</a:t>
            </a:r>
            <a:endParaRPr lang="en-US" dirty="0"/>
          </a:p>
        </p:txBody>
      </p:sp>
      <p:sp>
        <p:nvSpPr>
          <p:cNvPr id="3" name="Slide Number Placeholder 2">
            <a:extLst>
              <a:ext uri="{FF2B5EF4-FFF2-40B4-BE49-F238E27FC236}">
                <a16:creationId xmlns:a16="http://schemas.microsoft.com/office/drawing/2014/main" id="{2F4CF6E1-E838-F31C-A18D-34D35D39CA3E}"/>
              </a:ext>
            </a:extLst>
          </p:cNvPr>
          <p:cNvSpPr>
            <a:spLocks noGrp="1"/>
          </p:cNvSpPr>
          <p:nvPr>
            <p:ph type="sldNum" sz="quarter" idx="12"/>
          </p:nvPr>
        </p:nvSpPr>
        <p:spPr/>
        <p:txBody>
          <a:bodyPr/>
          <a:lstStyle/>
          <a:p>
            <a:fld id="{B6F15528-21DE-4FAA-801E-634DDDAF4B2B}" type="slidenum">
              <a:rPr lang="en-US" smtClean="0"/>
              <a:pPr/>
              <a:t>10</a:t>
            </a:fld>
            <a:endParaRPr lang="en-US" dirty="0"/>
          </a:p>
        </p:txBody>
      </p:sp>
      <p:pic>
        <p:nvPicPr>
          <p:cNvPr id="6" name="Picture 5">
            <a:extLst>
              <a:ext uri="{FF2B5EF4-FFF2-40B4-BE49-F238E27FC236}">
                <a16:creationId xmlns:a16="http://schemas.microsoft.com/office/drawing/2014/main" id="{4715F32A-2B83-F2CF-1C9E-2287F0796F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648" y="1158677"/>
            <a:ext cx="7050025" cy="4993423"/>
          </a:xfrm>
          <a:prstGeom prst="rect">
            <a:avLst/>
          </a:prstGeom>
        </p:spPr>
      </p:pic>
    </p:spTree>
    <p:extLst>
      <p:ext uri="{BB962C8B-B14F-4D97-AF65-F5344CB8AC3E}">
        <p14:creationId xmlns:p14="http://schemas.microsoft.com/office/powerpoint/2010/main" val="1094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38F71A-3771-21CF-2651-1B8143B86D5F}"/>
              </a:ext>
            </a:extLst>
          </p:cNvPr>
          <p:cNvSpPr>
            <a:spLocks noGrp="1"/>
          </p:cNvSpPr>
          <p:nvPr>
            <p:ph type="body" idx="1"/>
          </p:nvPr>
        </p:nvSpPr>
        <p:spPr>
          <a:xfrm>
            <a:off x="1630055" y="764704"/>
            <a:ext cx="7141317" cy="5184576"/>
          </a:xfrm>
        </p:spPr>
        <p:txBody>
          <a:bodyPr>
            <a:normAutofit/>
          </a:bodyPr>
          <a:lstStyle/>
          <a:p>
            <a:endParaRPr lang="en-IN"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F1C5401-790B-D030-FB50-0236FEEAF371}"/>
              </a:ext>
            </a:extLst>
          </p:cNvPr>
          <p:cNvSpPr>
            <a:spLocks noGrp="1"/>
          </p:cNvSpPr>
          <p:nvPr>
            <p:ph type="ftr" sz="quarter" idx="11"/>
          </p:nvPr>
        </p:nvSpPr>
        <p:spPr/>
        <p:txBody>
          <a:bodyPr/>
          <a:lstStyle/>
          <a:p>
            <a:r>
              <a:rPr lang="en-US"/>
              <a:t>Dept. of ECE, GAT</a:t>
            </a:r>
            <a:endParaRPr lang="en-US" dirty="0"/>
          </a:p>
        </p:txBody>
      </p:sp>
      <p:sp>
        <p:nvSpPr>
          <p:cNvPr id="5" name="Slide Number Placeholder 4">
            <a:extLst>
              <a:ext uri="{FF2B5EF4-FFF2-40B4-BE49-F238E27FC236}">
                <a16:creationId xmlns:a16="http://schemas.microsoft.com/office/drawing/2014/main" id="{A10AB984-6A89-19DC-DA9A-3A67B96DCF7E}"/>
              </a:ext>
            </a:extLst>
          </p:cNvPr>
          <p:cNvSpPr>
            <a:spLocks noGrp="1"/>
          </p:cNvSpPr>
          <p:nvPr>
            <p:ph type="sldNum" sz="quarter" idx="12"/>
          </p:nvPr>
        </p:nvSpPr>
        <p:spPr/>
        <p:txBody>
          <a:bodyPr/>
          <a:lstStyle/>
          <a:p>
            <a:fld id="{B6F15528-21DE-4FAA-801E-634DDDAF4B2B}" type="slidenum">
              <a:rPr lang="en-US" smtClean="0"/>
              <a:pPr/>
              <a:t>11</a:t>
            </a:fld>
            <a:endParaRPr lang="en-US" dirty="0"/>
          </a:p>
        </p:txBody>
      </p:sp>
      <p:pic>
        <p:nvPicPr>
          <p:cNvPr id="6" name="Picture 5">
            <a:extLst>
              <a:ext uri="{FF2B5EF4-FFF2-40B4-BE49-F238E27FC236}">
                <a16:creationId xmlns:a16="http://schemas.microsoft.com/office/drawing/2014/main" id="{57566A57-D233-6564-1D5E-435E0AFBD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648" y="836712"/>
            <a:ext cx="6620799" cy="2286319"/>
          </a:xfrm>
          <a:prstGeom prst="rect">
            <a:avLst/>
          </a:prstGeom>
        </p:spPr>
      </p:pic>
      <p:pic>
        <p:nvPicPr>
          <p:cNvPr id="8" name="Picture 7">
            <a:extLst>
              <a:ext uri="{FF2B5EF4-FFF2-40B4-BE49-F238E27FC236}">
                <a16:creationId xmlns:a16="http://schemas.microsoft.com/office/drawing/2014/main" id="{EA8B25B6-EAD3-FC48-4C7F-C3FE205418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1332" y="3495806"/>
            <a:ext cx="6554115" cy="2181529"/>
          </a:xfrm>
          <a:prstGeom prst="rect">
            <a:avLst/>
          </a:prstGeom>
        </p:spPr>
      </p:pic>
    </p:spTree>
    <p:extLst>
      <p:ext uri="{BB962C8B-B14F-4D97-AF65-F5344CB8AC3E}">
        <p14:creationId xmlns:p14="http://schemas.microsoft.com/office/powerpoint/2010/main" val="2518487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3319FB-EE6D-D1FA-8422-D5E16F1411BF}"/>
              </a:ext>
            </a:extLst>
          </p:cNvPr>
          <p:cNvSpPr>
            <a:spLocks noGrp="1"/>
          </p:cNvSpPr>
          <p:nvPr>
            <p:ph type="ftr" sz="quarter" idx="11"/>
          </p:nvPr>
        </p:nvSpPr>
        <p:spPr/>
        <p:txBody>
          <a:bodyPr/>
          <a:lstStyle/>
          <a:p>
            <a:r>
              <a:rPr lang="en-US"/>
              <a:t>Dept. of ECE, GAT</a:t>
            </a:r>
            <a:endParaRPr lang="en-US" dirty="0"/>
          </a:p>
        </p:txBody>
      </p:sp>
      <p:sp>
        <p:nvSpPr>
          <p:cNvPr id="3" name="Slide Number Placeholder 2">
            <a:extLst>
              <a:ext uri="{FF2B5EF4-FFF2-40B4-BE49-F238E27FC236}">
                <a16:creationId xmlns:a16="http://schemas.microsoft.com/office/drawing/2014/main" id="{6FE1D33A-E424-980B-CB06-CB2C8265D004}"/>
              </a:ext>
            </a:extLst>
          </p:cNvPr>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6" name="Picture 5">
            <a:extLst>
              <a:ext uri="{FF2B5EF4-FFF2-40B4-BE49-F238E27FC236}">
                <a16:creationId xmlns:a16="http://schemas.microsoft.com/office/drawing/2014/main" id="{469DF01B-676C-0111-07BA-9DFA94F7D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521" y="599680"/>
            <a:ext cx="7220958" cy="5658640"/>
          </a:xfrm>
          <a:prstGeom prst="rect">
            <a:avLst/>
          </a:prstGeom>
        </p:spPr>
      </p:pic>
    </p:spTree>
    <p:extLst>
      <p:ext uri="{BB962C8B-B14F-4D97-AF65-F5344CB8AC3E}">
        <p14:creationId xmlns:p14="http://schemas.microsoft.com/office/powerpoint/2010/main" val="2872370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BAC3C-BBAA-88EF-5807-C643465E6562}"/>
              </a:ext>
            </a:extLst>
          </p:cNvPr>
          <p:cNvSpPr>
            <a:spLocks noGrp="1"/>
          </p:cNvSpPr>
          <p:nvPr>
            <p:ph type="title"/>
          </p:nvPr>
        </p:nvSpPr>
        <p:spPr>
          <a:xfrm>
            <a:off x="1382341" y="692696"/>
            <a:ext cx="7141317" cy="989153"/>
          </a:xfrm>
        </p:spPr>
        <p:txBody>
          <a:bodyPr>
            <a:normAutofit/>
          </a:bodyPr>
          <a:lstStyle/>
          <a:p>
            <a:pPr algn="ctr"/>
            <a:r>
              <a:rPr lang="en-IN" sz="3200" dirty="0">
                <a:latin typeface="Times New Roman" panose="02020603050405020304" pitchFamily="18" charset="0"/>
                <a:cs typeface="Times New Roman" panose="02020603050405020304" pitchFamily="18" charset="0"/>
              </a:rPr>
              <a:t>Advantages </a:t>
            </a:r>
          </a:p>
        </p:txBody>
      </p:sp>
      <p:sp>
        <p:nvSpPr>
          <p:cNvPr id="4" name="Footer Placeholder 3">
            <a:extLst>
              <a:ext uri="{FF2B5EF4-FFF2-40B4-BE49-F238E27FC236}">
                <a16:creationId xmlns:a16="http://schemas.microsoft.com/office/drawing/2014/main" id="{02254461-8FE3-FFBC-CE3D-DA297364F376}"/>
              </a:ext>
            </a:extLst>
          </p:cNvPr>
          <p:cNvSpPr>
            <a:spLocks noGrp="1"/>
          </p:cNvSpPr>
          <p:nvPr>
            <p:ph type="ftr" sz="quarter" idx="11"/>
          </p:nvPr>
        </p:nvSpPr>
        <p:spPr/>
        <p:txBody>
          <a:bodyPr/>
          <a:lstStyle/>
          <a:p>
            <a:r>
              <a:rPr lang="en-US"/>
              <a:t>Dept. of ECE, GAT</a:t>
            </a:r>
            <a:endParaRPr lang="en-US" dirty="0"/>
          </a:p>
        </p:txBody>
      </p:sp>
      <p:sp>
        <p:nvSpPr>
          <p:cNvPr id="5" name="Slide Number Placeholder 4">
            <a:extLst>
              <a:ext uri="{FF2B5EF4-FFF2-40B4-BE49-F238E27FC236}">
                <a16:creationId xmlns:a16="http://schemas.microsoft.com/office/drawing/2014/main" id="{EA10E746-3777-468C-C68C-D343F8D4CC00}"/>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6" name="Rectangle 2">
            <a:extLst>
              <a:ext uri="{FF2B5EF4-FFF2-40B4-BE49-F238E27FC236}">
                <a16:creationId xmlns:a16="http://schemas.microsoft.com/office/drawing/2014/main" id="{73EE94AA-5876-D718-764E-248790AADC10}"/>
              </a:ext>
            </a:extLst>
          </p:cNvPr>
          <p:cNvSpPr>
            <a:spLocks noGrp="1" noChangeArrowheads="1"/>
          </p:cNvSpPr>
          <p:nvPr>
            <p:ph type="body" idx="1"/>
          </p:nvPr>
        </p:nvSpPr>
        <p:spPr bwMode="auto">
          <a:xfrm>
            <a:off x="1471354" y="2132856"/>
            <a:ext cx="7458719" cy="33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Gives more accurate crowd counting than manual methods.</a:t>
            </a:r>
          </a:p>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work in real-time to monitor crowds from video.</a:t>
            </a:r>
          </a:p>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crowded or overlapping people better than normal detection methods.</a:t>
            </a:r>
          </a:p>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for safety and crowd control during big events.</a:t>
            </a:r>
          </a:p>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used in different places by training with new data.</a:t>
            </a:r>
          </a:p>
          <a:p>
            <a:pPr marL="0" marR="0" lvl="0" indent="0" algn="just"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heat maps that make it easy to see where the crowd is dense.</a:t>
            </a:r>
          </a:p>
        </p:txBody>
      </p:sp>
    </p:spTree>
    <p:extLst>
      <p:ext uri="{BB962C8B-B14F-4D97-AF65-F5344CB8AC3E}">
        <p14:creationId xmlns:p14="http://schemas.microsoft.com/office/powerpoint/2010/main" val="157848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9244-533E-280B-1272-0B1C77E33C8E}"/>
              </a:ext>
            </a:extLst>
          </p:cNvPr>
          <p:cNvSpPr>
            <a:spLocks noGrp="1"/>
          </p:cNvSpPr>
          <p:nvPr>
            <p:ph type="ctrTitle"/>
          </p:nvPr>
        </p:nvSpPr>
        <p:spPr>
          <a:xfrm>
            <a:off x="3620852" y="692696"/>
            <a:ext cx="2664296" cy="678605"/>
          </a:xfrm>
        </p:spPr>
        <p:txBody>
          <a:bodyPr>
            <a:normAutofit/>
          </a:bodyPr>
          <a:lstStyle/>
          <a:p>
            <a:r>
              <a:rPr lang="en-IN" sz="3200" dirty="0">
                <a:latin typeface="Times New Roman" panose="02020603050405020304" pitchFamily="18" charset="0"/>
                <a:cs typeface="Times New Roman" panose="02020603050405020304" pitchFamily="18" charset="0"/>
              </a:rPr>
              <a:t>Disadvantages</a:t>
            </a:r>
          </a:p>
        </p:txBody>
      </p:sp>
      <p:sp>
        <p:nvSpPr>
          <p:cNvPr id="4" name="Rectangle 1">
            <a:extLst>
              <a:ext uri="{FF2B5EF4-FFF2-40B4-BE49-F238E27FC236}">
                <a16:creationId xmlns:a16="http://schemas.microsoft.com/office/drawing/2014/main" id="{EF87EAEF-6AB7-AD6C-38B6-CB588ACEFE16}"/>
              </a:ext>
            </a:extLst>
          </p:cNvPr>
          <p:cNvSpPr>
            <a:spLocks noGrp="1" noChangeArrowheads="1"/>
          </p:cNvSpPr>
          <p:nvPr>
            <p:ph type="subTitle" idx="1"/>
          </p:nvPr>
        </p:nvSpPr>
        <p:spPr bwMode="auto">
          <a:xfrm>
            <a:off x="2000672" y="1657402"/>
            <a:ext cx="6567888" cy="33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Needs a large amount of training data with proper labeling.</a:t>
            </a:r>
          </a:p>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Takes more time and high processing power to train and run.</a:t>
            </a:r>
          </a:p>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not work well in poor light or bad weather conditions.</a:t>
            </a:r>
          </a:p>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depend on camera quality and position.</a:t>
            </a:r>
          </a:p>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model trained in one place may not work well in another location.</a:t>
            </a:r>
          </a:p>
          <a:p>
            <a:pPr marL="0" marR="0" lvl="0" indent="0" algn="l" defTabSz="914400" rtl="0" eaLnBrk="0" fontAlgn="base" latinLnBrk="0" hangingPunct="0">
              <a:lnSpc>
                <a:spcPct val="200000"/>
              </a:lnSpc>
              <a:spcBef>
                <a:spcPct val="0"/>
              </a:spcBef>
              <a:spcAft>
                <a:spcPct val="0"/>
              </a:spcAft>
              <a:buClr>
                <a:schemeClr val="accent1">
                  <a:lumMod val="60000"/>
                  <a:lumOff val="40000"/>
                </a:schemeClr>
              </a:buClr>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in real-time if system hardware is weak.</a:t>
            </a:r>
          </a:p>
        </p:txBody>
      </p:sp>
    </p:spTree>
    <p:extLst>
      <p:ext uri="{BB962C8B-B14F-4D97-AF65-F5344CB8AC3E}">
        <p14:creationId xmlns:p14="http://schemas.microsoft.com/office/powerpoint/2010/main" val="193733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0D4F-1B22-5143-D777-2D0242C78EA9}"/>
              </a:ext>
            </a:extLst>
          </p:cNvPr>
          <p:cNvSpPr>
            <a:spLocks noGrp="1"/>
          </p:cNvSpPr>
          <p:nvPr>
            <p:ph type="title"/>
          </p:nvPr>
        </p:nvSpPr>
        <p:spPr>
          <a:xfrm>
            <a:off x="3512840" y="692696"/>
            <a:ext cx="3514874" cy="745555"/>
          </a:xfrm>
        </p:spPr>
        <p:txBody>
          <a:bodyPr>
            <a:normAutofit/>
          </a:bodyPr>
          <a:lstStyle/>
          <a:p>
            <a:pPr algn="ctr"/>
            <a:r>
              <a:rPr lang="en-IN" sz="3200" dirty="0">
                <a:latin typeface="Times New Roman" panose="02020603050405020304" pitchFamily="18" charset="0"/>
                <a:cs typeface="Times New Roman" panose="02020603050405020304" pitchFamily="18" charset="0"/>
              </a:rPr>
              <a:t>Applications</a:t>
            </a:r>
          </a:p>
        </p:txBody>
      </p:sp>
      <p:sp>
        <p:nvSpPr>
          <p:cNvPr id="4" name="Footer Placeholder 3">
            <a:extLst>
              <a:ext uri="{FF2B5EF4-FFF2-40B4-BE49-F238E27FC236}">
                <a16:creationId xmlns:a16="http://schemas.microsoft.com/office/drawing/2014/main" id="{BB9614B0-E9B4-3B6D-99DA-A022520022B3}"/>
              </a:ext>
            </a:extLst>
          </p:cNvPr>
          <p:cNvSpPr>
            <a:spLocks noGrp="1"/>
          </p:cNvSpPr>
          <p:nvPr>
            <p:ph type="ftr" sz="quarter" idx="11"/>
          </p:nvPr>
        </p:nvSpPr>
        <p:spPr/>
        <p:txBody>
          <a:bodyPr/>
          <a:lstStyle/>
          <a:p>
            <a:r>
              <a:rPr lang="en-US"/>
              <a:t>Dept. of ECE, GAT</a:t>
            </a:r>
            <a:endParaRPr lang="en-US" dirty="0"/>
          </a:p>
        </p:txBody>
      </p:sp>
      <p:sp>
        <p:nvSpPr>
          <p:cNvPr id="5" name="Slide Number Placeholder 4">
            <a:extLst>
              <a:ext uri="{FF2B5EF4-FFF2-40B4-BE49-F238E27FC236}">
                <a16:creationId xmlns:a16="http://schemas.microsoft.com/office/drawing/2014/main" id="{2CAF56E4-D6B0-8D65-D130-4B95661BD89C}"/>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Rectangle 2">
            <a:extLst>
              <a:ext uri="{FF2B5EF4-FFF2-40B4-BE49-F238E27FC236}">
                <a16:creationId xmlns:a16="http://schemas.microsoft.com/office/drawing/2014/main" id="{1BC228C0-D29F-FCB7-1D27-F7F2F0724274}"/>
              </a:ext>
            </a:extLst>
          </p:cNvPr>
          <p:cNvSpPr>
            <a:spLocks noGrp="1" noChangeArrowheads="1"/>
          </p:cNvSpPr>
          <p:nvPr>
            <p:ph type="body" idx="1"/>
          </p:nvPr>
        </p:nvSpPr>
        <p:spPr bwMode="auto">
          <a:xfrm>
            <a:off x="1280592" y="1628800"/>
            <a:ext cx="8125504"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Safety: Used to watch and control large crowds in places like festivals or rallies to avoid accidents.</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 Helps city officials understand how people move in busy areas like malls or parks.</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Transport Areas: Used at airports, railway stations, and bus stops to manage passenger crowds.</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Situations: Helps find crowded or dangerous areas quickly during disasters for rescue.</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 Management: Used to control the number of people and keep events safe in stadiums or concerts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0356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81BE-D2A0-B01D-512D-A6E6AEE85BE7}"/>
              </a:ext>
            </a:extLst>
          </p:cNvPr>
          <p:cNvSpPr>
            <a:spLocks noGrp="1"/>
          </p:cNvSpPr>
          <p:nvPr>
            <p:ph type="title"/>
          </p:nvPr>
        </p:nvSpPr>
        <p:spPr>
          <a:xfrm>
            <a:off x="1928664" y="692696"/>
            <a:ext cx="7141317" cy="618418"/>
          </a:xfrm>
        </p:spPr>
        <p:txBody>
          <a:bodyPr>
            <a:normAutofit/>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0EE26F8C-02BC-50D8-1EDD-46DF6B12D36B}"/>
              </a:ext>
            </a:extLst>
          </p:cNvPr>
          <p:cNvSpPr>
            <a:spLocks noGrp="1"/>
          </p:cNvSpPr>
          <p:nvPr>
            <p:ph type="body" idx="1"/>
          </p:nvPr>
        </p:nvSpPr>
        <p:spPr>
          <a:xfrm>
            <a:off x="1928664" y="1842526"/>
            <a:ext cx="7141317" cy="4034745"/>
          </a:xfrm>
        </p:spPr>
        <p:txBody>
          <a:bodyPr>
            <a:normAutofit fontScale="25000" lnSpcReduction="20000"/>
          </a:bodyPr>
          <a:lstStyle/>
          <a:p>
            <a:pPr algn="just">
              <a:lnSpc>
                <a:spcPct val="170000"/>
              </a:lnSpc>
            </a:pPr>
            <a:r>
              <a:rPr lang="en-US" sz="7200" dirty="0">
                <a:latin typeface="Times New Roman" panose="02020603050405020304" pitchFamily="18" charset="0"/>
                <a:cs typeface="Times New Roman" panose="02020603050405020304" pitchFamily="18" charset="0"/>
              </a:rPr>
              <a:t>Crowd density analysis using deep learning provides an effective and reliable way to estimate and monitor crowd levels in real time. By using models like CSRNet, it can accurately predict crowd distribution from images or videos and generate heat maps that help in better visualization and decision-making. This technology plays an important role in public safety, event management, and smart city applications by preventing overcrowding and improving surveillance. Overall, it offers a modern and intelligent solution for efficient crowd monitoring and management.</a:t>
            </a:r>
          </a:p>
          <a:p>
            <a:endParaRPr lang="en-IN" dirty="0"/>
          </a:p>
        </p:txBody>
      </p:sp>
      <p:sp>
        <p:nvSpPr>
          <p:cNvPr id="4" name="Footer Placeholder 3">
            <a:extLst>
              <a:ext uri="{FF2B5EF4-FFF2-40B4-BE49-F238E27FC236}">
                <a16:creationId xmlns:a16="http://schemas.microsoft.com/office/drawing/2014/main" id="{A6E26FBA-D491-0881-5D0C-13C97E864765}"/>
              </a:ext>
            </a:extLst>
          </p:cNvPr>
          <p:cNvSpPr>
            <a:spLocks noGrp="1"/>
          </p:cNvSpPr>
          <p:nvPr>
            <p:ph type="ftr" sz="quarter" idx="11"/>
          </p:nvPr>
        </p:nvSpPr>
        <p:spPr/>
        <p:txBody>
          <a:bodyPr/>
          <a:lstStyle/>
          <a:p>
            <a:r>
              <a:rPr lang="en-US"/>
              <a:t>Dept. of ECE, GAT</a:t>
            </a:r>
            <a:endParaRPr lang="en-US" dirty="0"/>
          </a:p>
        </p:txBody>
      </p:sp>
      <p:sp>
        <p:nvSpPr>
          <p:cNvPr id="5" name="Slide Number Placeholder 4">
            <a:extLst>
              <a:ext uri="{FF2B5EF4-FFF2-40B4-BE49-F238E27FC236}">
                <a16:creationId xmlns:a16="http://schemas.microsoft.com/office/drawing/2014/main" id="{F34CD29B-3713-A69F-C0CA-BFEA4A25B28A}"/>
              </a:ext>
            </a:extLst>
          </p:cNvPr>
          <p:cNvSpPr>
            <a:spLocks noGrp="1"/>
          </p:cNvSpPr>
          <p:nvPr>
            <p:ph type="sldNum" sz="quarter" idx="12"/>
          </p:nvPr>
        </p:nvSpPr>
        <p:spPr/>
        <p:txBody>
          <a:bodyPr/>
          <a:lstStyle/>
          <a:p>
            <a:fld id="{B6F15528-21DE-4FAA-801E-634DDDAF4B2B}" type="slidenum">
              <a:rPr lang="en-US" smtClean="0"/>
              <a:pPr/>
              <a:t>16</a:t>
            </a:fld>
            <a:endParaRPr lang="en-US" dirty="0"/>
          </a:p>
        </p:txBody>
      </p:sp>
    </p:spTree>
    <p:extLst>
      <p:ext uri="{BB962C8B-B14F-4D97-AF65-F5344CB8AC3E}">
        <p14:creationId xmlns:p14="http://schemas.microsoft.com/office/powerpoint/2010/main" val="2957492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41707-1C32-5F12-DE9D-A535CF72ED39}"/>
              </a:ext>
            </a:extLst>
          </p:cNvPr>
          <p:cNvSpPr>
            <a:spLocks noGrp="1"/>
          </p:cNvSpPr>
          <p:nvPr>
            <p:ph type="title"/>
          </p:nvPr>
        </p:nvSpPr>
        <p:spPr>
          <a:xfrm>
            <a:off x="1737920" y="1340768"/>
            <a:ext cx="7141317" cy="690426"/>
          </a:xfrm>
        </p:spPr>
        <p:txBody>
          <a:bodyPr>
            <a:normAutofit/>
          </a:bodyPr>
          <a:lstStyle/>
          <a:p>
            <a:pPr algn="ctr"/>
            <a:r>
              <a:rPr lang="en-IN" sz="3200" dirty="0">
                <a:latin typeface="Times New Roman" panose="02020603050405020304" pitchFamily="18" charset="0"/>
                <a:cs typeface="Times New Roman" panose="02020603050405020304" pitchFamily="18" charset="0"/>
              </a:rPr>
              <a:t>Future Scope</a:t>
            </a:r>
          </a:p>
        </p:txBody>
      </p:sp>
      <p:sp>
        <p:nvSpPr>
          <p:cNvPr id="4" name="Footer Placeholder 3">
            <a:extLst>
              <a:ext uri="{FF2B5EF4-FFF2-40B4-BE49-F238E27FC236}">
                <a16:creationId xmlns:a16="http://schemas.microsoft.com/office/drawing/2014/main" id="{581BA73E-9930-D604-5F7A-96C9FF949FFC}"/>
              </a:ext>
            </a:extLst>
          </p:cNvPr>
          <p:cNvSpPr>
            <a:spLocks noGrp="1"/>
          </p:cNvSpPr>
          <p:nvPr>
            <p:ph type="ftr" sz="quarter" idx="11"/>
          </p:nvPr>
        </p:nvSpPr>
        <p:spPr/>
        <p:txBody>
          <a:bodyPr/>
          <a:lstStyle/>
          <a:p>
            <a:r>
              <a:rPr lang="en-US" dirty="0"/>
              <a:t>Dept. of ECE, GAT</a:t>
            </a:r>
          </a:p>
        </p:txBody>
      </p:sp>
      <p:sp>
        <p:nvSpPr>
          <p:cNvPr id="5" name="Slide Number Placeholder 4">
            <a:extLst>
              <a:ext uri="{FF2B5EF4-FFF2-40B4-BE49-F238E27FC236}">
                <a16:creationId xmlns:a16="http://schemas.microsoft.com/office/drawing/2014/main" id="{A64E2147-669B-6818-EEBD-593A1209B983}"/>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6" name="Rectangle 1">
            <a:extLst>
              <a:ext uri="{FF2B5EF4-FFF2-40B4-BE49-F238E27FC236}">
                <a16:creationId xmlns:a16="http://schemas.microsoft.com/office/drawing/2014/main" id="{799C0EEC-6264-B580-C26A-2FAFBC5F47E1}"/>
              </a:ext>
            </a:extLst>
          </p:cNvPr>
          <p:cNvSpPr>
            <a:spLocks noGrp="1" noChangeArrowheads="1"/>
          </p:cNvSpPr>
          <p:nvPr>
            <p:ph type="body" idx="1"/>
          </p:nvPr>
        </p:nvSpPr>
        <p:spPr bwMode="auto">
          <a:xfrm>
            <a:off x="1496616" y="2358752"/>
            <a:ext cx="762392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Use: Can be improved to work faster for live crowd monitoring.</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Accuracy: Future models can give more correct crowd counts.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Multi-Camera Use: Can combine views from many cameras for better results.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City Link: Can connect with city systems for automatic crowd control and safety.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800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9A18-C586-403E-70F2-D9A6DDFC98D9}"/>
              </a:ext>
            </a:extLst>
          </p:cNvPr>
          <p:cNvSpPr>
            <a:spLocks noGrp="1"/>
          </p:cNvSpPr>
          <p:nvPr>
            <p:ph type="title"/>
          </p:nvPr>
        </p:nvSpPr>
        <p:spPr>
          <a:xfrm>
            <a:off x="1383850" y="512464"/>
            <a:ext cx="7138299" cy="1280890"/>
          </a:xfrm>
        </p:spPr>
        <p:txBody>
          <a:bodyPr>
            <a:normAutofit/>
          </a:bodyPr>
          <a:lstStyle/>
          <a:p>
            <a:pPr algn="ctr"/>
            <a:r>
              <a:rPr lang="en-US" sz="3200" dirty="0">
                <a:latin typeface="Times New Roman" panose="02020603050405020304" pitchFamily="18" charset="0"/>
                <a:cs typeface="Times New Roman" panose="02020603050405020304" pitchFamily="18" charset="0"/>
              </a:rPr>
              <a:t>REFERENCES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7F315E-4735-E24B-605C-42980034C2BD}"/>
              </a:ext>
            </a:extLst>
          </p:cNvPr>
          <p:cNvSpPr>
            <a:spLocks noGrp="1"/>
          </p:cNvSpPr>
          <p:nvPr>
            <p:ph idx="1"/>
          </p:nvPr>
        </p:nvSpPr>
        <p:spPr>
          <a:xfrm>
            <a:off x="776536" y="1700808"/>
            <a:ext cx="8856984" cy="3777622"/>
          </a:xfrm>
        </p:spPr>
        <p:txBody>
          <a:bodyPr/>
          <a:lstStyle/>
          <a:p>
            <a:pPr marL="0" indent="0" algn="just">
              <a:buNone/>
            </a:pPr>
            <a:r>
              <a:rPr lang="en-IN" dirty="0">
                <a:solidFill>
                  <a:srgbClr val="222222"/>
                </a:solidFill>
                <a:latin typeface="Times New Roman" panose="02020603050405020304" pitchFamily="18" charset="0"/>
                <a:cs typeface="Times New Roman" panose="02020603050405020304" pitchFamily="18" charset="0"/>
              </a:rPr>
              <a:t>[1]Alotaibi, Sultan Refa, et al. "Integrating Explainable Artificial Intelligence with Advanced Deep Learning Model for Crowd Density Estimation in Real-world Surveillance Systems." </a:t>
            </a:r>
            <a:r>
              <a:rPr lang="en-IN" i="1" dirty="0">
                <a:solidFill>
                  <a:srgbClr val="222222"/>
                </a:solidFill>
                <a:latin typeface="Times New Roman" panose="02020603050405020304" pitchFamily="18" charset="0"/>
                <a:cs typeface="Times New Roman" panose="02020603050405020304" pitchFamily="18" charset="0"/>
              </a:rPr>
              <a:t>IEEE Access</a:t>
            </a:r>
            <a:r>
              <a:rPr lang="en-IN" dirty="0">
                <a:solidFill>
                  <a:srgbClr val="222222"/>
                </a:solidFill>
                <a:latin typeface="Times New Roman" panose="02020603050405020304" pitchFamily="18" charset="0"/>
                <a:cs typeface="Times New Roman" panose="02020603050405020304" pitchFamily="18" charset="0"/>
              </a:rPr>
              <a:t> (2025).</a:t>
            </a:r>
          </a:p>
          <a:p>
            <a:pPr marL="0" indent="0" algn="just">
              <a:buNone/>
            </a:pPr>
            <a:r>
              <a:rPr lang="en-IN" dirty="0">
                <a:solidFill>
                  <a:srgbClr val="222222"/>
                </a:solidFill>
                <a:latin typeface="Times New Roman" panose="02020603050405020304" pitchFamily="18" charset="0"/>
                <a:cs typeface="Times New Roman" panose="02020603050405020304" pitchFamily="18" charset="0"/>
              </a:rPr>
              <a:t>[2]</a:t>
            </a:r>
            <a:r>
              <a:rPr lang="en-IN" dirty="0">
                <a:solidFill>
                  <a:srgbClr val="333333"/>
                </a:solidFill>
                <a:latin typeface="Times New Roman" panose="02020603050405020304" pitchFamily="18" charset="0"/>
                <a:cs typeface="Times New Roman" panose="02020603050405020304" pitchFamily="18" charset="0"/>
              </a:rPr>
              <a:t> M. M. </a:t>
            </a:r>
            <a:r>
              <a:rPr lang="en-IN" dirty="0" err="1">
                <a:solidFill>
                  <a:srgbClr val="333333"/>
                </a:solidFill>
                <a:latin typeface="Times New Roman" panose="02020603050405020304" pitchFamily="18" charset="0"/>
                <a:cs typeface="Times New Roman" panose="02020603050405020304" pitchFamily="18" charset="0"/>
              </a:rPr>
              <a:t>Menevse</a:t>
            </a:r>
            <a:r>
              <a:rPr lang="en-IN" dirty="0">
                <a:solidFill>
                  <a:srgbClr val="333333"/>
                </a:solidFill>
                <a:latin typeface="Times New Roman" panose="02020603050405020304" pitchFamily="18" charset="0"/>
                <a:cs typeface="Times New Roman" panose="02020603050405020304" pitchFamily="18" charset="0"/>
              </a:rPr>
              <a:t>, M. </a:t>
            </a:r>
            <a:r>
              <a:rPr lang="en-IN" dirty="0" err="1">
                <a:solidFill>
                  <a:srgbClr val="333333"/>
                </a:solidFill>
                <a:latin typeface="Times New Roman" panose="02020603050405020304" pitchFamily="18" charset="0"/>
                <a:cs typeface="Times New Roman" panose="02020603050405020304" pitchFamily="18" charset="0"/>
              </a:rPr>
              <a:t>Gozet</a:t>
            </a:r>
            <a:r>
              <a:rPr lang="en-IN" dirty="0">
                <a:solidFill>
                  <a:srgbClr val="333333"/>
                </a:solidFill>
                <a:latin typeface="Times New Roman" panose="02020603050405020304" pitchFamily="18" charset="0"/>
                <a:cs typeface="Times New Roman" panose="02020603050405020304" pitchFamily="18" charset="0"/>
              </a:rPr>
              <a:t>, A. E. Yilmaz and M. </a:t>
            </a:r>
            <a:r>
              <a:rPr lang="en-IN" dirty="0" err="1">
                <a:solidFill>
                  <a:srgbClr val="333333"/>
                </a:solidFill>
                <a:latin typeface="Times New Roman" panose="02020603050405020304" pitchFamily="18" charset="0"/>
                <a:cs typeface="Times New Roman" panose="02020603050405020304" pitchFamily="18" charset="0"/>
              </a:rPr>
              <a:t>Karakose</a:t>
            </a:r>
            <a:r>
              <a:rPr lang="en-IN" dirty="0">
                <a:solidFill>
                  <a:srgbClr val="333333"/>
                </a:solidFill>
                <a:latin typeface="Times New Roman" panose="02020603050405020304" pitchFamily="18" charset="0"/>
                <a:cs typeface="Times New Roman" panose="02020603050405020304" pitchFamily="18" charset="0"/>
              </a:rPr>
              <a:t>, "An Analysis Approach for Crowds with Varying Density and Complexity Using Image Data," </a:t>
            </a:r>
            <a:r>
              <a:rPr lang="en-IN" i="1" dirty="0">
                <a:solidFill>
                  <a:srgbClr val="333333"/>
                </a:solidFill>
                <a:latin typeface="Times New Roman" panose="02020603050405020304" pitchFamily="18" charset="0"/>
                <a:cs typeface="Times New Roman" panose="02020603050405020304" pitchFamily="18" charset="0"/>
              </a:rPr>
              <a:t>2025 29th International Conference on Information Technology (IT)</a:t>
            </a:r>
            <a:r>
              <a:rPr lang="en-IN" dirty="0">
                <a:solidFill>
                  <a:srgbClr val="333333"/>
                </a:solidFill>
                <a:latin typeface="Times New Roman" panose="02020603050405020304" pitchFamily="18" charset="0"/>
                <a:cs typeface="Times New Roman" panose="02020603050405020304" pitchFamily="18" charset="0"/>
              </a:rPr>
              <a:t>, </a:t>
            </a:r>
            <a:r>
              <a:rPr lang="en-IN" dirty="0" err="1">
                <a:solidFill>
                  <a:srgbClr val="333333"/>
                </a:solidFill>
                <a:latin typeface="Times New Roman" panose="02020603050405020304" pitchFamily="18" charset="0"/>
                <a:cs typeface="Times New Roman" panose="02020603050405020304" pitchFamily="18" charset="0"/>
              </a:rPr>
              <a:t>Zabljak</a:t>
            </a:r>
            <a:r>
              <a:rPr lang="en-IN" dirty="0">
                <a:solidFill>
                  <a:srgbClr val="333333"/>
                </a:solidFill>
                <a:latin typeface="Times New Roman" panose="02020603050405020304" pitchFamily="18" charset="0"/>
                <a:cs typeface="Times New Roman" panose="02020603050405020304" pitchFamily="18" charset="0"/>
              </a:rPr>
              <a:t>, Montenegro, 2025, pp. 1-4, </a:t>
            </a:r>
            <a:r>
              <a:rPr lang="en-IN" dirty="0" err="1">
                <a:solidFill>
                  <a:srgbClr val="333333"/>
                </a:solidFill>
                <a:latin typeface="Times New Roman" panose="02020603050405020304" pitchFamily="18" charset="0"/>
                <a:cs typeface="Times New Roman" panose="02020603050405020304" pitchFamily="18" charset="0"/>
              </a:rPr>
              <a:t>doi</a:t>
            </a:r>
            <a:r>
              <a:rPr lang="en-IN" dirty="0">
                <a:solidFill>
                  <a:srgbClr val="333333"/>
                </a:solidFill>
                <a:latin typeface="Times New Roman" panose="02020603050405020304" pitchFamily="18" charset="0"/>
                <a:cs typeface="Times New Roman" panose="02020603050405020304" pitchFamily="18" charset="0"/>
              </a:rPr>
              <a:t>: 10.1109/IT64745.2025.10930264.</a:t>
            </a:r>
            <a:endParaRPr lang="en-IN" dirty="0">
              <a:solidFill>
                <a:srgbClr val="222222"/>
              </a:solidFill>
              <a:latin typeface="Times New Roman" panose="02020603050405020304" pitchFamily="18" charset="0"/>
              <a:cs typeface="Times New Roman" panose="02020603050405020304" pitchFamily="18" charset="0"/>
            </a:endParaRPr>
          </a:p>
          <a:p>
            <a:pPr marL="0" indent="0" algn="just">
              <a:buNone/>
            </a:pPr>
            <a:r>
              <a:rPr lang="en-IN" dirty="0">
                <a:solidFill>
                  <a:srgbClr val="222222"/>
                </a:solidFill>
                <a:latin typeface="Times New Roman" panose="02020603050405020304" pitchFamily="18" charset="0"/>
                <a:cs typeface="Times New Roman" panose="02020603050405020304" pitchFamily="18" charset="0"/>
              </a:rPr>
              <a:t>[3] Kamra, Vikas, et al. "A Novel Approach for Crowd Analysis and Density Estimation by Using Machine Learning Techniques." </a:t>
            </a:r>
            <a:r>
              <a:rPr lang="en-IN" i="1" dirty="0">
                <a:solidFill>
                  <a:srgbClr val="222222"/>
                </a:solidFill>
                <a:latin typeface="Times New Roman" panose="02020603050405020304" pitchFamily="18" charset="0"/>
                <a:cs typeface="Times New Roman" panose="02020603050405020304" pitchFamily="18" charset="0"/>
              </a:rPr>
              <a:t>2024 International Conference on Intelligent Systems for Cybersecurity (ISCS)</a:t>
            </a:r>
            <a:r>
              <a:rPr lang="en-IN" dirty="0">
                <a:solidFill>
                  <a:srgbClr val="222222"/>
                </a:solidFill>
                <a:latin typeface="Times New Roman" panose="02020603050405020304" pitchFamily="18" charset="0"/>
                <a:cs typeface="Times New Roman" panose="02020603050405020304" pitchFamily="18" charset="0"/>
              </a:rPr>
              <a:t>. IEEE, 2024.</a:t>
            </a:r>
          </a:p>
          <a:p>
            <a:pPr marL="0" indent="0" algn="just">
              <a:buNone/>
            </a:pPr>
            <a:endParaRPr lang="en-IN" dirty="0"/>
          </a:p>
        </p:txBody>
      </p:sp>
      <p:sp>
        <p:nvSpPr>
          <p:cNvPr id="4" name="Footer Placeholder 3">
            <a:extLst>
              <a:ext uri="{FF2B5EF4-FFF2-40B4-BE49-F238E27FC236}">
                <a16:creationId xmlns:a16="http://schemas.microsoft.com/office/drawing/2014/main" id="{8557D50D-FD86-4A5F-8C6C-65DD7ED55089}"/>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8" name="Slide Number Placeholder 7">
            <a:extLst>
              <a:ext uri="{FF2B5EF4-FFF2-40B4-BE49-F238E27FC236}">
                <a16:creationId xmlns:a16="http://schemas.microsoft.com/office/drawing/2014/main" id="{2B5AEF15-B034-4AAC-80C9-D994B3208966}"/>
              </a:ext>
            </a:extLst>
          </p:cNvPr>
          <p:cNvSpPr>
            <a:spLocks noGrp="1"/>
          </p:cNvSpPr>
          <p:nvPr>
            <p:ph type="sldNum" sz="quarter" idx="12"/>
          </p:nvPr>
        </p:nvSpPr>
        <p:spPr/>
        <p:txBody>
          <a:bodyPr/>
          <a:lstStyle/>
          <a:p>
            <a:fld id="{B6F15528-21DE-4FAA-801E-634DDDAF4B2B}" type="slidenum">
              <a:rPr lang="en-US" smtClean="0"/>
              <a:pPr/>
              <a:t>18</a:t>
            </a:fld>
            <a:endParaRPr lang="en-US" dirty="0"/>
          </a:p>
        </p:txBody>
      </p:sp>
    </p:spTree>
    <p:extLst>
      <p:ext uri="{BB962C8B-B14F-4D97-AF65-F5344CB8AC3E}">
        <p14:creationId xmlns:p14="http://schemas.microsoft.com/office/powerpoint/2010/main" val="1906072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AD292C-5603-703E-7216-9B25A5A122D4}"/>
              </a:ext>
            </a:extLst>
          </p:cNvPr>
          <p:cNvSpPr>
            <a:spLocks noGrp="1"/>
          </p:cNvSpPr>
          <p:nvPr>
            <p:ph type="ftr" sz="quarter" idx="11"/>
          </p:nvPr>
        </p:nvSpPr>
        <p:spPr/>
        <p:txBody>
          <a:bodyPr/>
          <a:lstStyle/>
          <a:p>
            <a:r>
              <a:rPr lang="en-US"/>
              <a:t>Dept. of ECE, GAT</a:t>
            </a:r>
            <a:endParaRPr lang="en-US" dirty="0"/>
          </a:p>
        </p:txBody>
      </p:sp>
      <p:sp>
        <p:nvSpPr>
          <p:cNvPr id="3" name="Slide Number Placeholder 2">
            <a:extLst>
              <a:ext uri="{FF2B5EF4-FFF2-40B4-BE49-F238E27FC236}">
                <a16:creationId xmlns:a16="http://schemas.microsoft.com/office/drawing/2014/main" id="{DC989421-42E5-01D8-3F1D-F449DF19E1D0}"/>
              </a:ext>
            </a:extLst>
          </p:cNvPr>
          <p:cNvSpPr>
            <a:spLocks noGrp="1"/>
          </p:cNvSpPr>
          <p:nvPr>
            <p:ph type="sldNum" sz="quarter" idx="12"/>
          </p:nvPr>
        </p:nvSpPr>
        <p:spPr/>
        <p:txBody>
          <a:bodyPr/>
          <a:lstStyle/>
          <a:p>
            <a:fld id="{B6F15528-21DE-4FAA-801E-634DDDAF4B2B}" type="slidenum">
              <a:rPr lang="en-US" smtClean="0"/>
              <a:pPr/>
              <a:t>19</a:t>
            </a:fld>
            <a:endParaRPr lang="en-US" dirty="0"/>
          </a:p>
        </p:txBody>
      </p:sp>
      <p:sp>
        <p:nvSpPr>
          <p:cNvPr id="5" name="TextBox 4">
            <a:extLst>
              <a:ext uri="{FF2B5EF4-FFF2-40B4-BE49-F238E27FC236}">
                <a16:creationId xmlns:a16="http://schemas.microsoft.com/office/drawing/2014/main" id="{B1CB7FD4-1D75-2FB5-22D0-F1E038254812}"/>
              </a:ext>
            </a:extLst>
          </p:cNvPr>
          <p:cNvSpPr txBox="1"/>
          <p:nvPr/>
        </p:nvSpPr>
        <p:spPr>
          <a:xfrm>
            <a:off x="992560" y="1484784"/>
            <a:ext cx="8568952" cy="3693319"/>
          </a:xfrm>
          <a:prstGeom prst="rect">
            <a:avLst/>
          </a:prstGeom>
          <a:noFill/>
        </p:spPr>
        <p:txBody>
          <a:bodyPr wrap="square">
            <a:spAutoFit/>
          </a:bodyPr>
          <a:lstStyle/>
          <a:p>
            <a:pPr algn="just"/>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[4]M. Ibrahim and C. Turan, "Deep Learning in Crowd Analysis: A Survey of Current Research Trends," </a:t>
            </a:r>
            <a:r>
              <a:rPr lang="en-IN" b="0" i="1"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2023 17th International Conference on Electronics Computer and Computation (ICECCO)</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a:t>
            </a:r>
            <a:r>
              <a:rPr lang="en-IN" b="0" i="0" dirty="0" err="1">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Kaskelen</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Kazakhstan, 2023, pp. 1-3</a:t>
            </a:r>
            <a:r>
              <a:rPr lang="en-IN"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a:t>
            </a:r>
            <a:endPar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a:p>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doi:10.1109/ICECCO58239.2023.10147135</a:t>
            </a:r>
            <a:b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br>
            <a:endPar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[5]S. </a:t>
            </a:r>
            <a:r>
              <a:rPr lang="en-IN" b="0" i="0" dirty="0" err="1">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Alsubai</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a:t>
            </a:r>
            <a:r>
              <a:rPr lang="en-IN" b="0" i="1"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et al</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"Design of Artificial Intelligence Driven Crowd Density Analysis for Sustainable Smart Cities," in </a:t>
            </a:r>
            <a:r>
              <a:rPr lang="en-IN" b="0" i="1"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IEEE Access</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vol. 12, pp. 121983-121993, 2024</a:t>
            </a:r>
            <a:r>
              <a:rPr lang="en-IN"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a:t>
            </a:r>
            <a:endPar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a:p>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doi:10.1109/ACCESS.2024.3390049</a:t>
            </a:r>
            <a:b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br>
            <a:endPar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[6] L. Rajendran and R. Shyam Shankaran, "Bigdata Enabled Realtime Crowd Surveillance Using Artificial Intelligence And Deep Learning," 2021 IEEE International Conference on Big Data and Smart Computing (</a:t>
            </a:r>
            <a:r>
              <a:rPr lang="en-IN" b="0" i="0" dirty="0" err="1">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BigComp</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Jeju Island, Korea (South), 2021, pp. 129-132, </a:t>
            </a:r>
            <a:r>
              <a:rPr lang="en-IN" b="0" i="0" dirty="0" err="1">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doi</a:t>
            </a:r>
            <a:r>
              <a:rPr lang="en-IN"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 10.1109/BigComp51126.2021.00032.</a:t>
            </a:r>
          </a:p>
        </p:txBody>
      </p:sp>
    </p:spTree>
    <p:extLst>
      <p:ext uri="{BB962C8B-B14F-4D97-AF65-F5344CB8AC3E}">
        <p14:creationId xmlns:p14="http://schemas.microsoft.com/office/powerpoint/2010/main" val="824582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438400"/>
            <a:ext cx="8915400" cy="1143000"/>
          </a:xfrm>
        </p:spPr>
        <p:txBody>
          <a:bodyPr>
            <a:normAutofit/>
          </a:bodyPr>
          <a:lstStyle/>
          <a:p>
            <a:pPr algn="ctr"/>
            <a:r>
              <a:rPr lang="en-US" sz="6600" dirty="0">
                <a:latin typeface="Times New Roman" pitchFamily="18" charset="0"/>
                <a:cs typeface="Times New Roman" pitchFamily="18" charset="0"/>
              </a:rPr>
              <a:t>THANK YOU    </a:t>
            </a:r>
          </a:p>
        </p:txBody>
      </p:sp>
      <p:sp>
        <p:nvSpPr>
          <p:cNvPr id="3" name="Footer Placeholder 2">
            <a:extLst>
              <a:ext uri="{FF2B5EF4-FFF2-40B4-BE49-F238E27FC236}">
                <a16:creationId xmlns:a16="http://schemas.microsoft.com/office/drawing/2014/main" id="{7C898F54-A60F-40F4-AA22-1C397378BDB3}"/>
              </a:ext>
            </a:extLst>
          </p:cNvPr>
          <p:cNvSpPr>
            <a:spLocks noGrp="1"/>
          </p:cNvSpPr>
          <p:nvPr>
            <p:ph type="ftr" sz="quarter" idx="11"/>
          </p:nvPr>
        </p:nvSpPr>
        <p:spPr/>
        <p:txBody>
          <a:bodyPr/>
          <a:lstStyle/>
          <a:p>
            <a:pPr algn="ctr"/>
            <a:r>
              <a:rPr lang="en-US" sz="1400" dirty="0">
                <a:latin typeface="Times New Roman" panose="02020603050405020304" pitchFamily="18" charset="0"/>
                <a:cs typeface="Times New Roman" panose="02020603050405020304" pitchFamily="18" charset="0"/>
              </a:rPr>
              <a:t>Dept. of ECE, GAT</a:t>
            </a:r>
          </a:p>
        </p:txBody>
      </p:sp>
      <p:sp>
        <p:nvSpPr>
          <p:cNvPr id="7" name="Slide Number Placeholder 6">
            <a:extLst>
              <a:ext uri="{FF2B5EF4-FFF2-40B4-BE49-F238E27FC236}">
                <a16:creationId xmlns:a16="http://schemas.microsoft.com/office/drawing/2014/main" id="{8E7567D0-8A5A-438E-9913-5FDC22FD6F78}"/>
              </a:ext>
            </a:extLst>
          </p:cNvPr>
          <p:cNvSpPr>
            <a:spLocks noGrp="1"/>
          </p:cNvSpPr>
          <p:nvPr>
            <p:ph type="sldNum" sz="quarter" idx="12"/>
          </p:nvPr>
        </p:nvSpPr>
        <p:spPr/>
        <p:txBody>
          <a:bodyPr/>
          <a:lstStyle/>
          <a:p>
            <a:fld id="{B6F15528-21DE-4FAA-801E-634DDDAF4B2B}" type="slidenum">
              <a:rPr lang="en-US" smtClean="0"/>
              <a:pPr/>
              <a:t>20</a:t>
            </a:fld>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2689</TotalTime>
  <Words>1594</Words>
  <Application>Microsoft Office PowerPoint</Application>
  <PresentationFormat>A4 Paper (210x297 mm)</PresentationFormat>
  <Paragraphs>178</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Aparajita</vt:lpstr>
      <vt:lpstr>Arial</vt:lpstr>
      <vt:lpstr>Calibri</vt:lpstr>
      <vt:lpstr>Century Gothic</vt:lpstr>
      <vt:lpstr>Times New Roman</vt:lpstr>
      <vt:lpstr>Wingdings</vt:lpstr>
      <vt:lpstr>Wingdings 3</vt:lpstr>
      <vt:lpstr>Wisp</vt:lpstr>
      <vt:lpstr>Global Academy of Technology Rajarajeshwari Nagar,Bengaluru-560098</vt:lpstr>
      <vt:lpstr>CONTENTS</vt:lpstr>
      <vt:lpstr>INTRODUCTION</vt:lpstr>
      <vt:lpstr>PROBLEM STATEMENT</vt:lpstr>
      <vt:lpstr>LITERATURE SURVEY</vt:lpstr>
      <vt:lpstr>PowerPoint Presentation</vt:lpstr>
      <vt:lpstr>OBJECTIVES</vt:lpstr>
      <vt:lpstr>METHODOLOGY</vt:lpstr>
      <vt:lpstr>PowerPoint Presentation</vt:lpstr>
      <vt:lpstr>                       RESULTS</vt:lpstr>
      <vt:lpstr>PowerPoint Presentation</vt:lpstr>
      <vt:lpstr>PowerPoint Presentation</vt:lpstr>
      <vt:lpstr>Advantages </vt:lpstr>
      <vt:lpstr>Disadvantages</vt:lpstr>
      <vt:lpstr>Applications</vt:lpstr>
      <vt:lpstr>Conclusion</vt:lpstr>
      <vt:lpstr>Future Scope</vt:lpstr>
      <vt:lpstr>REFERENCES</vt:lpstr>
      <vt:lpstr>PowerPoint Presentation</vt:lpstr>
      <vt:lpstr>THANK YOU    </vt:lpstr>
    </vt:vector>
  </TitlesOfParts>
  <Company>Technofly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dc:title>
  <dc:creator>Technofly Solutions</dc:creator>
  <cp:lastModifiedBy>Ankith R</cp:lastModifiedBy>
  <cp:revision>411</cp:revision>
  <dcterms:created xsi:type="dcterms:W3CDTF">2018-03-07T11:29:33Z</dcterms:created>
  <dcterms:modified xsi:type="dcterms:W3CDTF">2025-10-29T04:47:20Z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2016-03-21T00:00:00Z</vt:filetime>
  </property>
  <property fmtid="{D5CDD505-2E9C-101B-9397-08002B2CF9AE}" pid="3" name="Creator">
    <vt:lpwstr>Microsoft® PowerPoint® 2013</vt:lpwstr>
  </property>
  <property fmtid="{D5CDD505-2E9C-101B-9397-08002B2CF9AE}" pid="4" name="LastSaved">
    <vt:filetime>2018-03-07T00:00:00Z</vt:filetime>
  </property>
</Properties>
</file>